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710" r:id="rId5"/>
    <p:sldMasterId id="2147483736" r:id="rId6"/>
  </p:sldMasterIdLst>
  <p:notesMasterIdLst>
    <p:notesMasterId r:id="rId21"/>
  </p:notesMasterIdLst>
  <p:handoutMasterIdLst>
    <p:handoutMasterId r:id="rId22"/>
  </p:handoutMasterIdLst>
  <p:sldIdLst>
    <p:sldId id="301" r:id="rId7"/>
    <p:sldId id="302" r:id="rId8"/>
    <p:sldId id="337" r:id="rId9"/>
    <p:sldId id="334" r:id="rId10"/>
    <p:sldId id="348" r:id="rId11"/>
    <p:sldId id="342" r:id="rId12"/>
    <p:sldId id="344" r:id="rId13"/>
    <p:sldId id="335" r:id="rId14"/>
    <p:sldId id="339" r:id="rId15"/>
    <p:sldId id="341" r:id="rId16"/>
    <p:sldId id="345" r:id="rId17"/>
    <p:sldId id="343" r:id="rId18"/>
    <p:sldId id="346" r:id="rId19"/>
    <p:sldId id="347" r:id="rId20"/>
  </p:sldIdLst>
  <p:sldSz cx="18288000" cy="10287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FFFFFF"/>
    <a:srgbClr val="44C8F5"/>
    <a:srgbClr val="AFABAB"/>
    <a:srgbClr val="CA483E"/>
    <a:srgbClr val="4472C4"/>
    <a:srgbClr val="E3EA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E60E07-D841-4AE0-9037-9C4FA1B76649}" v="69" dt="2024-11-06T17:12:13.291"/>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0387" autoAdjust="0"/>
  </p:normalViewPr>
  <p:slideViewPr>
    <p:cSldViewPr snapToGrid="0" showGuides="1">
      <p:cViewPr varScale="1">
        <p:scale>
          <a:sx n="46" d="100"/>
          <a:sy n="46" d="100"/>
        </p:scale>
        <p:origin x="84" y="14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notesViewPr>
    <p:cSldViewPr snapToGrid="0" showGuides="1">
      <p:cViewPr>
        <p:scale>
          <a:sx n="150" d="100"/>
          <a:sy n="150" d="100"/>
        </p:scale>
        <p:origin x="2454" y="336"/>
      </p:cViewPr>
      <p:guideLst/>
    </p:cSldViewPr>
  </p:notesViewPr>
  <p:gridSpacing cx="719999" cy="719999"/>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49550E8D-2687-4B55-AC6F-1FBD87CF06BB}"/>
              </a:ext>
            </a:extLst>
          </p:cNvPr>
          <p:cNvSpPr>
            <a:spLocks noGrp="1"/>
          </p:cNvSpPr>
          <p:nvPr>
            <p:ph type="hdr" sz="quarter"/>
          </p:nvPr>
        </p:nvSpPr>
        <p:spPr>
          <a:xfrm>
            <a:off x="1505588" y="108502"/>
            <a:ext cx="5539587" cy="216755"/>
          </a:xfrm>
          <a:prstGeom prst="rect">
            <a:avLst/>
          </a:prstGeom>
        </p:spPr>
        <p:txBody>
          <a:bodyPr vert="horz" lIns="91440" tIns="45720" rIns="91440" bIns="45720" rtlCol="0"/>
          <a:lstStyle>
            <a:lvl1pPr algn="l">
              <a:defRPr sz="1200"/>
            </a:lvl1pPr>
          </a:lstStyle>
          <a:p>
            <a:endParaRPr lang="nl-BE" dirty="0"/>
          </a:p>
        </p:txBody>
      </p:sp>
      <p:sp>
        <p:nvSpPr>
          <p:cNvPr id="3" name="Tijdelijke aanduiding voor datum 2">
            <a:extLst>
              <a:ext uri="{FF2B5EF4-FFF2-40B4-BE49-F238E27FC236}">
                <a16:creationId xmlns:a16="http://schemas.microsoft.com/office/drawing/2014/main" id="{62C4A80C-7EC9-478E-BFC2-BEAEB6355605}"/>
              </a:ext>
            </a:extLst>
          </p:cNvPr>
          <p:cNvSpPr>
            <a:spLocks noGrp="1"/>
          </p:cNvSpPr>
          <p:nvPr>
            <p:ph type="dt" sz="quarter" idx="1"/>
          </p:nvPr>
        </p:nvSpPr>
        <p:spPr>
          <a:xfrm>
            <a:off x="4633297" y="108502"/>
            <a:ext cx="3962400" cy="216755"/>
          </a:xfrm>
          <a:prstGeom prst="rect">
            <a:avLst/>
          </a:prstGeom>
        </p:spPr>
        <p:txBody>
          <a:bodyPr vert="horz" lIns="91440" tIns="45720" rIns="91440" bIns="45720" rtlCol="0"/>
          <a:lstStyle>
            <a:lvl1pPr algn="r">
              <a:defRPr sz="1200"/>
            </a:lvl1pPr>
          </a:lstStyle>
          <a:p>
            <a:fld id="{B851D6B0-C309-4360-AADA-E0100A701C51}" type="datetimeFigureOut">
              <a:rPr lang="nl-BE" smtClean="0"/>
              <a:t>7/11/2024</a:t>
            </a:fld>
            <a:endParaRPr lang="nl-BE"/>
          </a:p>
        </p:txBody>
      </p:sp>
      <p:sp>
        <p:nvSpPr>
          <p:cNvPr id="4" name="Tijdelijke aanduiding voor voettekst 3">
            <a:extLst>
              <a:ext uri="{FF2B5EF4-FFF2-40B4-BE49-F238E27FC236}">
                <a16:creationId xmlns:a16="http://schemas.microsoft.com/office/drawing/2014/main" id="{EEAA731C-3B25-44FC-ABC1-2A77BCFD587A}"/>
              </a:ext>
            </a:extLst>
          </p:cNvPr>
          <p:cNvSpPr>
            <a:spLocks noGrp="1"/>
          </p:cNvSpPr>
          <p:nvPr>
            <p:ph type="ftr" sz="quarter" idx="2"/>
          </p:nvPr>
        </p:nvSpPr>
        <p:spPr>
          <a:xfrm>
            <a:off x="523045" y="6218916"/>
            <a:ext cx="7043767" cy="216755"/>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509BC4C9-5927-4A4C-9D62-F4FCB8CB3205}"/>
              </a:ext>
            </a:extLst>
          </p:cNvPr>
          <p:cNvSpPr>
            <a:spLocks noGrp="1"/>
          </p:cNvSpPr>
          <p:nvPr>
            <p:ph type="sldNum" sz="quarter" idx="3"/>
          </p:nvPr>
        </p:nvSpPr>
        <p:spPr>
          <a:xfrm>
            <a:off x="8049510" y="6237326"/>
            <a:ext cx="546187" cy="198345"/>
          </a:xfrm>
          <a:prstGeom prst="rect">
            <a:avLst/>
          </a:prstGeom>
        </p:spPr>
        <p:txBody>
          <a:bodyPr vert="horz" lIns="91440" tIns="45720" rIns="91440" bIns="45720" rtlCol="0" anchor="b"/>
          <a:lstStyle>
            <a:lvl1pPr algn="r">
              <a:defRPr sz="1200"/>
            </a:lvl1pPr>
          </a:lstStyle>
          <a:p>
            <a:fld id="{08C79EED-929D-483E-9007-D3F59A4C8C3F}" type="slidenum">
              <a:rPr lang="nl-BE" smtClean="0"/>
              <a:t>‹#›</a:t>
            </a:fld>
            <a:endParaRPr lang="nl-BE"/>
          </a:p>
        </p:txBody>
      </p:sp>
      <p:pic>
        <p:nvPicPr>
          <p:cNvPr id="7" name="Afbeelding 6">
            <a:extLst>
              <a:ext uri="{FF2B5EF4-FFF2-40B4-BE49-F238E27FC236}">
                <a16:creationId xmlns:a16="http://schemas.microsoft.com/office/drawing/2014/main" id="{41A637C1-C271-414F-B837-89650030AD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224" y="-12274"/>
            <a:ext cx="1022976" cy="524275"/>
          </a:xfrm>
          <a:prstGeom prst="rect">
            <a:avLst/>
          </a:prstGeom>
        </p:spPr>
      </p:pic>
      <p:cxnSp>
        <p:nvCxnSpPr>
          <p:cNvPr id="8" name="Rechte verbindingslijn 7">
            <a:extLst>
              <a:ext uri="{FF2B5EF4-FFF2-40B4-BE49-F238E27FC236}">
                <a16:creationId xmlns:a16="http://schemas.microsoft.com/office/drawing/2014/main" id="{2EAA0E41-0FD2-4F96-9F26-A36EB18A8771}"/>
              </a:ext>
            </a:extLst>
          </p:cNvPr>
          <p:cNvCxnSpPr>
            <a:cxnSpLocks/>
          </p:cNvCxnSpPr>
          <p:nvPr/>
        </p:nvCxnSpPr>
        <p:spPr>
          <a:xfrm>
            <a:off x="615157" y="478051"/>
            <a:ext cx="7887493"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70211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nl-BE" dirty="0"/>
          </a:p>
        </p:txBody>
      </p:sp>
      <p:sp>
        <p:nvSpPr>
          <p:cNvPr id="3" name="Tijdelijke aanduiding voor datum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01C07673-66AC-46B1-89BD-061114F0C338}" type="datetimeFigureOut">
              <a:rPr lang="nl-BE" smtClean="0"/>
              <a:t>7/11/2024</a:t>
            </a:fld>
            <a:endParaRPr lang="nl-BE"/>
          </a:p>
        </p:txBody>
      </p:sp>
      <p:sp>
        <p:nvSpPr>
          <p:cNvPr id="4" name="Tijdelijke aanduiding voor dia-afbeelding 3"/>
          <p:cNvSpPr>
            <a:spLocks noGrp="1" noRot="1" noChangeAspect="1"/>
          </p:cNvSpPr>
          <p:nvPr>
            <p:ph type="sldImg" idx="2"/>
          </p:nvPr>
        </p:nvSpPr>
        <p:spPr>
          <a:xfrm>
            <a:off x="615157" y="702310"/>
            <a:ext cx="3996267" cy="2247900"/>
          </a:xfrm>
          <a:prstGeom prst="rect">
            <a:avLst/>
          </a:prstGeom>
          <a:noFill/>
          <a:ln w="12700">
            <a:solidFill>
              <a:prstClr val="black"/>
            </a:solidFill>
          </a:ln>
        </p:spPr>
        <p:txBody>
          <a:bodyPr vert="horz" lIns="91440" tIns="45720" rIns="91440" bIns="45720" rtlCol="0" anchor="ctr"/>
          <a:lstStyle/>
          <a:p>
            <a:endParaRPr lang="nl-BE"/>
          </a:p>
        </p:txBody>
      </p:sp>
      <p:sp>
        <p:nvSpPr>
          <p:cNvPr id="6" name="Tijdelijke aanduiding voor voettekst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C23E295-A1A5-4488-BC09-D942F81F4A15}" type="slidenum">
              <a:rPr lang="nl-BE" smtClean="0"/>
              <a:t>‹#›</a:t>
            </a:fld>
            <a:endParaRPr lang="nl-BE"/>
          </a:p>
        </p:txBody>
      </p:sp>
      <p:sp>
        <p:nvSpPr>
          <p:cNvPr id="8" name="Tijdelijke aanduiding voor datum 2">
            <a:extLst>
              <a:ext uri="{FF2B5EF4-FFF2-40B4-BE49-F238E27FC236}">
                <a16:creationId xmlns:a16="http://schemas.microsoft.com/office/drawing/2014/main" id="{944846E0-E852-40C1-B969-83476F3B76F7}"/>
              </a:ext>
            </a:extLst>
          </p:cNvPr>
          <p:cNvSpPr txBox="1">
            <a:spLocks/>
          </p:cNvSpPr>
          <p:nvPr/>
        </p:nvSpPr>
        <p:spPr>
          <a:xfrm>
            <a:off x="4633297" y="108502"/>
            <a:ext cx="3962400" cy="216755"/>
          </a:xfrm>
          <a:prstGeom prst="rect">
            <a:avLst/>
          </a:prstGeom>
        </p:spPr>
        <p:txBody>
          <a:bodyPr vert="horz" lIns="91440" tIns="45720" rIns="91440" bIns="45720" rtlCol="0"/>
          <a:lstStyle>
            <a:defPPr>
              <a:defRPr lang="en-US"/>
            </a:defPPr>
            <a:lvl1pPr marL="0" algn="r"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851D6B0-C309-4360-AADA-E0100A701C51}" type="datetimeFigureOut">
              <a:rPr lang="nl-BE" smtClean="0"/>
              <a:pPr/>
              <a:t>7/11/2024</a:t>
            </a:fld>
            <a:endParaRPr lang="nl-BE"/>
          </a:p>
        </p:txBody>
      </p:sp>
      <p:pic>
        <p:nvPicPr>
          <p:cNvPr id="10" name="Afbeelding 9">
            <a:extLst>
              <a:ext uri="{FF2B5EF4-FFF2-40B4-BE49-F238E27FC236}">
                <a16:creationId xmlns:a16="http://schemas.microsoft.com/office/drawing/2014/main" id="{CABF7A55-6C0F-4E87-AFC0-BB240FFF9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224" y="-12274"/>
            <a:ext cx="1022976" cy="524275"/>
          </a:xfrm>
          <a:prstGeom prst="rect">
            <a:avLst/>
          </a:prstGeom>
        </p:spPr>
      </p:pic>
      <p:cxnSp>
        <p:nvCxnSpPr>
          <p:cNvPr id="11" name="Rechte verbindingslijn 10">
            <a:extLst>
              <a:ext uri="{FF2B5EF4-FFF2-40B4-BE49-F238E27FC236}">
                <a16:creationId xmlns:a16="http://schemas.microsoft.com/office/drawing/2014/main" id="{0778B21D-7FB4-4703-A374-CC34AE860216}"/>
              </a:ext>
            </a:extLst>
          </p:cNvPr>
          <p:cNvCxnSpPr>
            <a:cxnSpLocks/>
          </p:cNvCxnSpPr>
          <p:nvPr/>
        </p:nvCxnSpPr>
        <p:spPr>
          <a:xfrm>
            <a:off x="615157" y="478051"/>
            <a:ext cx="7887493"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ijdelijke aanduiding voor notities 4">
            <a:extLst>
              <a:ext uri="{FF2B5EF4-FFF2-40B4-BE49-F238E27FC236}">
                <a16:creationId xmlns:a16="http://schemas.microsoft.com/office/drawing/2014/main" id="{CC94D0D5-1E80-4534-99C4-6E80E3027CAD}"/>
              </a:ext>
            </a:extLst>
          </p:cNvPr>
          <p:cNvSpPr>
            <a:spLocks noGrp="1"/>
          </p:cNvSpPr>
          <p:nvPr>
            <p:ph type="body" sz="quarter" idx="3"/>
          </p:nvPr>
        </p:nvSpPr>
        <p:spPr>
          <a:xfrm>
            <a:off x="615156" y="3043270"/>
            <a:ext cx="8281193" cy="3283879"/>
          </a:xfrm>
          <a:prstGeom prst="rect">
            <a:avLst/>
          </a:prstGeom>
        </p:spPr>
        <p:txBody>
          <a:bodyPr vert="horz" lIns="91440" tIns="45720" rIns="91440" bIns="45720" rtlCol="0"/>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2423332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15950" y="701675"/>
            <a:ext cx="3995738" cy="2247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23E295-A1A5-4488-BC09-D942F81F4A15}" type="slidenum">
              <a:rPr lang="nl-BE" smtClean="0"/>
              <a:t>2</a:t>
            </a:fld>
            <a:endParaRPr lang="nl-BE"/>
          </a:p>
        </p:txBody>
      </p:sp>
    </p:spTree>
    <p:extLst>
      <p:ext uri="{BB962C8B-B14F-4D97-AF65-F5344CB8AC3E}">
        <p14:creationId xmlns:p14="http://schemas.microsoft.com/office/powerpoint/2010/main" val="397962406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udenthowest.sharepoint.com/sites/staff/COMM/SitePages/Huisstijl.aspx"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2.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3.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2.0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hlinkClick r:id="rId9"/>
              </a:rPr>
              <a:t>https://studenthowest.sharepoint.com/sites/staff/COMM/SitePages/Huisstijl.aspx</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4" name="Afbeelding 3">
            <a:extLst>
              <a:ext uri="{FF2B5EF4-FFF2-40B4-BE49-F238E27FC236}">
                <a16:creationId xmlns:a16="http://schemas.microsoft.com/office/drawing/2014/main" id="{5B39836E-004F-43A1-BAE3-C85C57A18D2C}"/>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007362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78514"/>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nl-BE" noProof="0" dirty="0"/>
            </a:br>
            <a:br>
              <a:rPr lang="nl-BE" noProof="0" dirty="0"/>
            </a:br>
            <a:r>
              <a:rPr lang="nl-BE" noProof="0" dirty="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350" y="365592"/>
            <a:ext cx="7567613" cy="3878402"/>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746299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6711901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7569186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3789761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49720300-64FC-4FDF-A2A5-59CA95955096}" type="datetime1">
              <a:rPr lang="en-US" noProof="0" smtClean="0"/>
              <a:t>11/7/2024</a:t>
            </a:fld>
            <a:endParaRPr lang="nl-BE" noProof="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noProof="0"/>
              <a:t>AI Applied maths - Introduction to the course</a:t>
            </a:r>
            <a:endParaRPr lang="nl-BE" noProof="0"/>
          </a:p>
        </p:txBody>
      </p:sp>
      <p:sp>
        <p:nvSpPr>
          <p:cNvPr id="6" name="Slide Number Placeholder 5"/>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noProof="0" smtClean="0"/>
              <a:pPr/>
              <a:t>‹#›</a:t>
            </a:fld>
            <a:endParaRPr lang="nl-BE" noProof="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015177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90A3E81-D504-487D-AF03-819239CC2C0A}" type="datetime1">
              <a:rPr lang="en-US" noProof="0" smtClean="0"/>
              <a:t>11/7/2024</a:t>
            </a:fld>
            <a:endParaRPr lang="nl-BE" noProof="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noProof="0"/>
              <a:t>AI Applied maths - Introduction to the course</a:t>
            </a:r>
            <a:endParaRPr lang="nl-BE" noProof="0"/>
          </a:p>
        </p:txBody>
      </p:sp>
      <p:sp>
        <p:nvSpPr>
          <p:cNvPr id="6" name="Slide Number Placeholder 5"/>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161375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EEB9FFE0-59FF-4E33-9CF1-FBB947891542}"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7028344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41BA17A-667C-4D93-9EEB-CE8CDA12C775}"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nl-BE"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1701883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128AA3D-AAC1-445D-BF00-34BE9318455F}"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41238711"/>
      </p:ext>
    </p:extLst>
  </p:cSld>
  <p:clrMapOvr>
    <a:masterClrMapping/>
  </p:clrMapOvr>
  <p:extLst>
    <p:ext uri="{DCECCB84-F9BA-43D5-87BE-67443E8EF086}">
      <p15:sldGuideLst xmlns:p15="http://schemas.microsoft.com/office/powerpoint/2012/main">
        <p15:guide id="4" pos="110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A7F3E6C-1FA8-4436-B106-74EF80D4CB7F}"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915514383"/>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BD3179D-58B1-412C-8CF3-7F545738F87E}" type="datetime1">
              <a:rPr lang="en-US" smtClean="0"/>
              <a:t>11/7/2024</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163273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4B97197-FFCB-4B16-835A-2E5828717164}"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2371907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77F542A-B82F-4E83-93DC-863E9FDE82F7}"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9673714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406F617-AD80-4738-B25F-A7D3E15B75F3}"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Tree>
    <p:extLst>
      <p:ext uri="{BB962C8B-B14F-4D97-AF65-F5344CB8AC3E}">
        <p14:creationId xmlns:p14="http://schemas.microsoft.com/office/powerpoint/2010/main" val="205112904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9029510-9E10-4B25-9FB6-88A9124ED319}"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75477018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E6B3870-FE77-4DBA-8794-2BD2375BCBBF}"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868049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6A9BE76-1D90-489D-803B-8C3CE8B995EE}"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82811451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2D5572F-3657-4F3F-9A5C-301345760D87}"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3554308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248EC58-3C6A-408E-BF2C-227E9FD80B06}"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1791551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47EBE1C-EF0C-4E9A-9653-E90EA15E080B}"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9465612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41739908-FECA-4FE2-AD74-D0CA913861BF}"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0323051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E93C465A-EC76-414B-9AD8-6A6333FC2869}" type="datetime1">
              <a:rPr lang="en-US" smtClean="0"/>
              <a:t>11/7/2024</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51920761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8EF92A3-2E01-4870-AD04-3328FB554419}" type="datetime1">
              <a:rPr lang="en-US" smtClean="0"/>
              <a:t>11/7/2024</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77979155"/>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8F9C85E-C406-457F-91F3-E2C7AB2700D0}" type="datetime1">
              <a:rPr lang="en-US" smtClean="0"/>
              <a:t>11/7/2024</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76262081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65868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1.0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latin typeface="+mn-lt"/>
                <a:cs typeface="Arial" panose="020B0604020202020204" pitchFamily="34" charset="0"/>
                <a:hlinkClick r:id="rId9"/>
              </a:rPr>
              <a:t>https://start.howest.be/StrategieCommunicatie/Communicatie</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115" name="Afbeelding 114">
            <a:extLst>
              <a:ext uri="{FF2B5EF4-FFF2-40B4-BE49-F238E27FC236}">
                <a16:creationId xmlns:a16="http://schemas.microsoft.com/office/drawing/2014/main" id="{CB240C3F-0CBE-43DA-B915-ADD14E9397EB}"/>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0727203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65262"/>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en-GB" noProof="0"/>
            </a:br>
            <a:br>
              <a:rPr lang="en-GB" noProof="0"/>
            </a:br>
            <a:r>
              <a:rPr lang="en-GB" noProof="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Ondertitel tekst</a:t>
            </a:r>
          </a:p>
        </p:txBody>
      </p:sp>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pic>
        <p:nvPicPr>
          <p:cNvPr id="12" name="Graphic 11">
            <a:extLst>
              <a:ext uri="{FF2B5EF4-FFF2-40B4-BE49-F238E27FC236}">
                <a16:creationId xmlns:a16="http://schemas.microsoft.com/office/drawing/2014/main" id="{CAD32F27-0931-4A36-A228-C5DD842F358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1" y="357904"/>
            <a:ext cx="7601331" cy="3895344"/>
          </a:xfrm>
          <a:prstGeom prst="rect">
            <a:avLst/>
          </a:prstGeom>
        </p:spPr>
      </p:pic>
    </p:spTree>
    <p:extLst>
      <p:ext uri="{BB962C8B-B14F-4D97-AF65-F5344CB8AC3E}">
        <p14:creationId xmlns:p14="http://schemas.microsoft.com/office/powerpoint/2010/main" val="354345904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en-GB"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Klikken om de ondertitelstijl </a:t>
            </a:r>
          </a:p>
          <a:p>
            <a:r>
              <a:rPr lang="en-GB" noProof="0"/>
              <a:t>van het model </a:t>
            </a:r>
          </a:p>
          <a:p>
            <a:r>
              <a:rPr lang="en-GB" noProof="0"/>
              <a:t>te bewerken</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F7EE5D66-D7E4-4BDC-948E-FA0C01C6A52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32904365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en-GB" noProof="0"/>
              <a:t>“Klik om quote </a:t>
            </a:r>
            <a:br>
              <a:rPr lang="en-GB" noProof="0"/>
            </a:br>
            <a:r>
              <a:rPr lang="en-GB"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Klik om de Naam en Voornaam in te voegen</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30A4158E-317F-4A86-B1B9-6DBC4007AC4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283708918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en-GB"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Agendapunt 1</a:t>
            </a:r>
          </a:p>
          <a:p>
            <a:r>
              <a:rPr lang="en-GB" noProof="0"/>
              <a:t>Agendapunt 2</a:t>
            </a:r>
          </a:p>
          <a:p>
            <a:r>
              <a:rPr lang="en-GB" noProof="0"/>
              <a:t>Agendapunt 3</a:t>
            </a:r>
          </a:p>
          <a:p>
            <a:r>
              <a:rPr lang="en-GB" noProof="0"/>
              <a:t>Agendapunt 4</a:t>
            </a:r>
          </a:p>
          <a:p>
            <a:r>
              <a:rPr lang="en-GB" noProof="0"/>
              <a:t>Agendapunt 5</a:t>
            </a:r>
          </a:p>
          <a:p>
            <a:r>
              <a:rPr lang="en-GB" noProof="0"/>
              <a:t>Agendapunt 6</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9B1B0592-CA51-4965-AEB9-DEFB73DA845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10974092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BB152F7-B62B-4B05-8621-F14388A73947}" type="datetime1">
              <a:rPr lang="en-US" smtClean="0"/>
              <a:t>11/7/2024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6" name="Slide Number Placeholder 5"/>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017041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4E84467-467C-4DBA-A9F6-A4B59E674B2C}" type="datetime1">
              <a:rPr lang="en-US" smtClean="0"/>
              <a:t>11/7/2024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6" name="Slide Number Placeholder 5"/>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7884447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41673CC-C382-4A24-B66C-CA49DD795765}"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22226488"/>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4AE26A2-BB15-47BB-B9BA-2EA6D471591B}"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en-GB"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090155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B5AC47E-C401-4DF5-AF15-4C7F99E804C2}"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42238196"/>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4EC3A80-7B41-4C70-B3D2-389FE11F1A4F}"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863784025"/>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8CB7556-562F-42BC-9754-9366D2D485FA}" type="datetime1">
              <a:rPr lang="en-US" smtClean="0"/>
              <a:t>11/7/2024</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30449799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90F2DEA-4A67-4D6E-B974-28D39E7AFAE9}"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92957828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4D399FD-B1A0-4138-9CFD-D2E29FDE6D67}"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594986153"/>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C63BE49-DF2F-4B26-970E-A1C1E963CD6F}"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Tree>
    <p:extLst>
      <p:ext uri="{BB962C8B-B14F-4D97-AF65-F5344CB8AC3E}">
        <p14:creationId xmlns:p14="http://schemas.microsoft.com/office/powerpoint/2010/main" val="1723938962"/>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70E8B3A-810F-4E2A-AEC6-267E7BEC0019}"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33260486"/>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368A032-50AE-4924-991C-C411201B1C0F}"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03619452"/>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DA5AAF8-4A73-41E5-87BA-33904BA3F9F2}"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896772477"/>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D9C48DD-F70E-48FF-B518-C0A7A934D630}"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548749984"/>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BEFAC7F-5269-430B-9710-633BBF9B1F21}"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93989386"/>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B5A40F9-5149-4269-8461-C29B408EB9F0}"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373337553"/>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F7F45CC-F39E-4FDE-9F23-89D44B1120F2}"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160713780"/>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480FF68-B993-448A-9E2E-51A2044332C2}" type="datetime1">
              <a:rPr lang="en-US" smtClean="0"/>
              <a:t>11/7/2024</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685532684"/>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NL" dirty="0"/>
              <a:t>Titel</a:t>
            </a:r>
            <a:endParaRPr lang="nl-BE" dirty="0"/>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96B27BC-5CE1-464F-BBFC-535A436349E3}" type="datetime1">
              <a:rPr lang="en-US" smtClean="0"/>
              <a:t>11/7/2024</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103895135"/>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5A71049-980B-479B-9292-9D629336ECBA}" type="datetime1">
              <a:rPr lang="en-US" smtClean="0"/>
              <a:t>11/7/2024</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83348632"/>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41264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1.0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latin typeface="+mn-lt"/>
                <a:cs typeface="Arial" panose="020B0604020202020204" pitchFamily="34" charset="0"/>
                <a:hlinkClick r:id="rId9"/>
              </a:rPr>
              <a:t>https://start.howest.be/StrategieCommunicatie/Communicatie</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115" name="Afbeelding 114">
            <a:extLst>
              <a:ext uri="{FF2B5EF4-FFF2-40B4-BE49-F238E27FC236}">
                <a16:creationId xmlns:a16="http://schemas.microsoft.com/office/drawing/2014/main" id="{5574E764-4DF0-401B-8634-39C5C89BB7CE}"/>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837244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852464918"/>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78514"/>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nl-BE" noProof="0"/>
            </a:br>
            <a:br>
              <a:rPr lang="nl-BE" noProof="0"/>
            </a:br>
            <a:r>
              <a:rPr lang="nl-BE" noProof="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350" y="365592"/>
            <a:ext cx="7567613" cy="3878402"/>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40040869"/>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13591553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230274321"/>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6447152-B9BF-46CE-9E04-F7984268CC8D}" type="datetime1">
              <a:rPr lang="en-US" smtClean="0"/>
              <a:t>11/7/2024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4E33BA09-67C0-408C-8B50-3F1EBDFBB6AD}"/>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228369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8D5EF28-3492-47D1-AF9D-B29698D75997}" type="datetime1">
              <a:rPr lang="en-US" smtClean="0"/>
              <a:t>11/7/2024</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
        <p:nvSpPr>
          <p:cNvPr id="17" name="Slide Number Placeholder 5">
            <a:extLst>
              <a:ext uri="{FF2B5EF4-FFF2-40B4-BE49-F238E27FC236}">
                <a16:creationId xmlns:a16="http://schemas.microsoft.com/office/drawing/2014/main" id="{535CD291-C318-4F7C-BE2D-0968FAAC202A}"/>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9189965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789BD71-4723-475F-8C03-26AABD915416}"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754E2B3E-4C74-4A6A-953D-C55A6E902B8C}"/>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709396467"/>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B1351D5-27B7-423D-8F01-AEC14CFEDD3E}"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nl-BE"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E298B6C7-E64D-451B-B8F5-BDD2AEEBAC0A}"/>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489056685"/>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3EFFE73-4211-460C-94CD-5260CDAABD6A}"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
        <p:nvSpPr>
          <p:cNvPr id="10" name="Slide Number Placeholder 5">
            <a:extLst>
              <a:ext uri="{FF2B5EF4-FFF2-40B4-BE49-F238E27FC236}">
                <a16:creationId xmlns:a16="http://schemas.microsoft.com/office/drawing/2014/main" id="{E933CE10-84EB-48D5-9DBB-6D5D909491D9}"/>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363498780"/>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735374F2-1986-4242-A657-A3C0D0CA274F}" type="datetime1">
              <a:rPr lang="en-US" smtClean="0"/>
              <a:t>11/7/2024</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
        <p:nvSpPr>
          <p:cNvPr id="8" name="Slide Number Placeholder 5">
            <a:extLst>
              <a:ext uri="{FF2B5EF4-FFF2-40B4-BE49-F238E27FC236}">
                <a16:creationId xmlns:a16="http://schemas.microsoft.com/office/drawing/2014/main" id="{A7541285-D923-49F0-9255-B49296C75D20}"/>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817097596"/>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8315E83-A5DC-49E5-BEAB-AA004764E640}" type="datetime1">
              <a:rPr lang="en-US" smtClean="0"/>
              <a:t>11/7/2024</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E4EA7E3C-8D96-4688-A34D-5E20B15746F3}"/>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035366188"/>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26DC1B5-81C7-4C59-8E8C-012A57B63F20}"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9B0C9453-241A-4033-BF7E-32861682715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677616355"/>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23C23C4-8C67-4A3B-AF06-96D3C6B4B6E5}"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2D7ADE46-BC5E-4CF0-A652-DEEBD380AB6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845866888"/>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4473370-D33F-4580-9E77-0D68F948CC0D}"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
        <p:nvSpPr>
          <p:cNvPr id="13" name="Slide Number Placeholder 5">
            <a:extLst>
              <a:ext uri="{FF2B5EF4-FFF2-40B4-BE49-F238E27FC236}">
                <a16:creationId xmlns:a16="http://schemas.microsoft.com/office/drawing/2014/main" id="{11AD4B49-588B-4FA0-AB7E-1A35BB2C644B}"/>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60589124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EE01433-7EEF-4024-88EE-CB2DC19F1607}"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A7D7A479-4D38-43A0-BAB1-00DE90D031CD}"/>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591389218"/>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NL"/>
              <a:t>Titel</a:t>
            </a:r>
            <a:endParaRPr lang="en-US" dirty="0"/>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E99CC0C-3257-4B8B-B3CB-FC614266FAB8}"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71E88DA-619D-423F-AE47-6EC96B62FB4C}"/>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280927994"/>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55AB069-8D40-41C7-9C95-5EBC08464299}"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5" name="Slide Number Placeholder 5">
            <a:extLst>
              <a:ext uri="{FF2B5EF4-FFF2-40B4-BE49-F238E27FC236}">
                <a16:creationId xmlns:a16="http://schemas.microsoft.com/office/drawing/2014/main" id="{373E7580-50F0-4BA7-B9B0-F25DEFBE5C93}"/>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258748530"/>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1FADC31-DF19-4E82-B9A1-1709377CF91C}"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26" name="Slide Number Placeholder 5">
            <a:extLst>
              <a:ext uri="{FF2B5EF4-FFF2-40B4-BE49-F238E27FC236}">
                <a16:creationId xmlns:a16="http://schemas.microsoft.com/office/drawing/2014/main" id="{B322D117-B4F5-4509-AFFC-9390DA3CF0C5}"/>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888011576"/>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440578E3-E413-4EDA-919A-E711947C5525}" type="datetime1">
              <a:rPr lang="en-US" smtClean="0"/>
              <a:t>11/7/2024</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28" name="Slide Number Placeholder 5">
            <a:extLst>
              <a:ext uri="{FF2B5EF4-FFF2-40B4-BE49-F238E27FC236}">
                <a16:creationId xmlns:a16="http://schemas.microsoft.com/office/drawing/2014/main" id="{C4CEE009-8E85-4C17-8940-2ECFA7416A87}"/>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3298399701"/>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902AF8F-BED1-496F-9592-5DAFC0AB6509}"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0B746D04-F8B5-4633-8AF7-A2B6C0815590}"/>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145390681"/>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DC8FCE1-8277-4F98-941D-9725904A7544}" type="datetime1">
              <a:rPr lang="en-US" smtClean="0"/>
              <a:t>11/7/2024</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BB1B3D76-87F5-4241-8BC7-B14883BF9BD9}"/>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29027203"/>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A637D1B-2350-4E66-888C-D6455256F990}" type="datetime1">
              <a:rPr lang="en-US" smtClean="0"/>
              <a:t>11/7/2024</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7FE107D6-62B0-4C84-B71F-6083B8886F2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766994925"/>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6BFC5FE-F283-4942-B53A-F72EF2538FA5}" type="datetime1">
              <a:rPr lang="en-US" smtClean="0"/>
              <a:t>11/7/2024</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C622672D-881A-46AD-85C1-7DDEFA005E4F}"/>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375719772"/>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06B12BF-766E-4014-83A5-42CE40DCD2F1}" type="datetime1">
              <a:rPr lang="en-US" smtClean="0"/>
              <a:t>11/7/2024</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AI Applied maths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298E6EB-9C9F-42C7-9A88-763E9F891878}"/>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641883746"/>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4762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image" Target="../media/image14.sv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image" Target="../media/image13.png"/><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image" Target="../media/image14.svg"/><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image" Target="../media/image13.png"/><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C71E187-E4DA-41C1-93D3-90841C153AB8}"/>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50C8E215-5F44-451C-BA9C-4DA6C9B8BA97}" type="datetime1">
              <a:rPr lang="en-US" noProof="0" smtClean="0"/>
              <a:t>11/7/2024</a:t>
            </a:fld>
            <a:endParaRPr lang="nl-BE" noProof="0"/>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noProof="0"/>
              <a:t>AI Applied maths - Introduction to the course</a:t>
            </a:r>
            <a:endParaRPr lang="nl-BE" noProof="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noProof="0" smtClean="0"/>
              <a:t>‹#›</a:t>
            </a:fld>
            <a:endParaRPr lang="nl-BE" noProof="0"/>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Afbeelding 314">
            <a:extLst>
              <a:ext uri="{FF2B5EF4-FFF2-40B4-BE49-F238E27FC236}">
                <a16:creationId xmlns:a16="http://schemas.microsoft.com/office/drawing/2014/main" id="{3BF46849-40DA-4360-9135-DC7B3200D2D2}"/>
              </a:ext>
            </a:extLst>
          </p:cNvPr>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15988887" y="9145588"/>
            <a:ext cx="1841761" cy="943903"/>
          </a:xfrm>
          <a:prstGeom prst="rect">
            <a:avLst/>
          </a:prstGeom>
        </p:spPr>
      </p:pic>
    </p:spTree>
    <p:extLst>
      <p:ext uri="{BB962C8B-B14F-4D97-AF65-F5344CB8AC3E}">
        <p14:creationId xmlns:p14="http://schemas.microsoft.com/office/powerpoint/2010/main" val="2587856834"/>
      </p:ext>
    </p:extLst>
  </p:cSld>
  <p:clrMap bg1="lt1" tx1="dk1" bg2="lt2" tx2="dk2" accent1="accent1" accent2="accent2" accent3="accent3" accent4="accent4" accent5="accent5" accent6="accent6" hlink="hlink" folHlink="folHlink"/>
  <p:sldLayoutIdLst>
    <p:sldLayoutId id="2147483707" r:id="rId1"/>
    <p:sldLayoutId id="2147483673" r:id="rId2"/>
    <p:sldLayoutId id="2147483686" r:id="rId3"/>
    <p:sldLayoutId id="2147483708" r:id="rId4"/>
    <p:sldLayoutId id="2147483709" r:id="rId5"/>
    <p:sldLayoutId id="2147483684" r:id="rId6"/>
    <p:sldLayoutId id="2147483696" r:id="rId7"/>
    <p:sldLayoutId id="2147483688" r:id="rId8"/>
    <p:sldLayoutId id="2147483706" r:id="rId9"/>
    <p:sldLayoutId id="2147483697" r:id="rId10"/>
    <p:sldLayoutId id="2147483703" r:id="rId11"/>
    <p:sldLayoutId id="2147483687" r:id="rId12"/>
    <p:sldLayoutId id="2147483702" r:id="rId13"/>
    <p:sldLayoutId id="2147483693" r:id="rId14"/>
    <p:sldLayoutId id="2147483705" r:id="rId15"/>
    <p:sldLayoutId id="2147483698" r:id="rId16"/>
    <p:sldLayoutId id="2147483694" r:id="rId17"/>
    <p:sldLayoutId id="2147483699" r:id="rId18"/>
    <p:sldLayoutId id="2147483695" r:id="rId19"/>
    <p:sldLayoutId id="2147483700" r:id="rId20"/>
    <p:sldLayoutId id="2147483691" r:id="rId21"/>
    <p:sldLayoutId id="2147483704" r:id="rId22"/>
    <p:sldLayoutId id="2147483689" r:id="rId23"/>
    <p:sldLayoutId id="2147483692" r:id="rId24"/>
    <p:sldLayoutId id="2147483685" r:id="rId25"/>
    <p:sldLayoutId id="2147483764"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userDrawn="1">
          <p15:clr>
            <a:srgbClr val="5ACBF0"/>
          </p15:clr>
        </p15:guide>
        <p15:guide id="2" pos="11094" userDrawn="1">
          <p15:clr>
            <a:srgbClr val="5ACBF0"/>
          </p15:clr>
        </p15:guide>
        <p15:guide id="3" pos="5877" userDrawn="1">
          <p15:clr>
            <a:srgbClr val="5ACBF0"/>
          </p15:clr>
        </p15:guide>
        <p15:guide id="4" orient="horz" pos="1475" userDrawn="1">
          <p15:clr>
            <a:srgbClr val="5ACBF0"/>
          </p15:clr>
        </p15:guide>
        <p15:guide id="5" orient="horz" pos="5327" userDrawn="1">
          <p15:clr>
            <a:srgbClr val="5ACBF0"/>
          </p15:clr>
        </p15:guide>
        <p15:guide id="6" orient="horz" pos="5765" userDrawn="1">
          <p15:clr>
            <a:srgbClr val="5ACBF0"/>
          </p15:clr>
        </p15:guide>
        <p15:guide id="7" orient="horz" pos="1037" userDrawn="1">
          <p15:clr>
            <a:srgbClr val="5ACBF0"/>
          </p15:clr>
        </p15:guide>
        <p15:guide id="8" orient="horz" pos="3392"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DF2FF41-9D14-4CCF-A57E-BD51DB27A649}"/>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GB"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DD5E9B05-860A-4510-8E32-7CD4C27F778B}" type="datetime1">
              <a:rPr lang="en-US" smtClean="0"/>
              <a:t>11/7/2024</a:t>
            </a:fld>
            <a:endParaRPr lang="nl-BE"/>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AI Applied maths - Introduction to the course</a:t>
            </a:r>
            <a:endParaRPr lang="nl-BE" dirty="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smtClean="0"/>
              <a:t>‹#›</a:t>
            </a:fld>
            <a:endParaRPr lang="nl-BE"/>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userDrawn="1"/>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5991268" y="9146698"/>
            <a:ext cx="1841920" cy="943902"/>
          </a:xfrm>
          <a:prstGeom prst="rect">
            <a:avLst/>
          </a:prstGeom>
        </p:spPr>
      </p:pic>
    </p:spTree>
    <p:extLst>
      <p:ext uri="{BB962C8B-B14F-4D97-AF65-F5344CB8AC3E}">
        <p14:creationId xmlns:p14="http://schemas.microsoft.com/office/powerpoint/2010/main" val="4172784495"/>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62"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8" name="balk onderaan">
            <a:extLst>
              <a:ext uri="{FF2B5EF4-FFF2-40B4-BE49-F238E27FC236}">
                <a16:creationId xmlns:a16="http://schemas.microsoft.com/office/drawing/2014/main" id="{1C347D43-E018-4735-A7B3-BBD71DCA569C}"/>
              </a:ext>
            </a:extLst>
          </p:cNvPr>
          <p:cNvSpPr/>
          <p:nvPr userDrawn="1"/>
        </p:nvSpPr>
        <p:spPr>
          <a:xfrm>
            <a:off x="-5644" y="9306131"/>
            <a:ext cx="13481537" cy="552245"/>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 name="connsiteX0" fmla="*/ 0 w 15988888"/>
              <a:gd name="connsiteY0" fmla="*/ 547482 h 548274"/>
              <a:gd name="connsiteX1" fmla="*/ 2507456 w 15988888"/>
              <a:gd name="connsiteY1" fmla="*/ 2176 h 548274"/>
              <a:gd name="connsiteX2" fmla="*/ 15802408 w 15988888"/>
              <a:gd name="connsiteY2" fmla="*/ 586 h 548274"/>
              <a:gd name="connsiteX3" fmla="*/ 15988888 w 15988888"/>
              <a:gd name="connsiteY3" fmla="*/ 0 h 548274"/>
              <a:gd name="connsiteX4" fmla="*/ 15802408 w 15988888"/>
              <a:gd name="connsiteY4" fmla="*/ 548274 h 548274"/>
              <a:gd name="connsiteX5" fmla="*/ 0 w 15988888"/>
              <a:gd name="connsiteY5" fmla="*/ 547482 h 54827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7196 w 13481484"/>
              <a:gd name="connsiteY5" fmla="*/ 549864 h 54986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4394234 w 13481484"/>
              <a:gd name="connsiteY5" fmla="*/ 549863 h 549864"/>
              <a:gd name="connsiteX6" fmla="*/ 7196 w 13481484"/>
              <a:gd name="connsiteY6" fmla="*/ 549864 h 549864"/>
              <a:gd name="connsiteX0" fmla="*/ 2486 w 13481537"/>
              <a:gd name="connsiteY0" fmla="*/ 552245 h 552245"/>
              <a:gd name="connsiteX1" fmla="*/ 105 w 13481537"/>
              <a:gd name="connsiteY1" fmla="*/ 2176 h 552245"/>
              <a:gd name="connsiteX2" fmla="*/ 13295057 w 13481537"/>
              <a:gd name="connsiteY2" fmla="*/ 586 h 552245"/>
              <a:gd name="connsiteX3" fmla="*/ 13481537 w 13481537"/>
              <a:gd name="connsiteY3" fmla="*/ 0 h 552245"/>
              <a:gd name="connsiteX4" fmla="*/ 13295057 w 13481537"/>
              <a:gd name="connsiteY4" fmla="*/ 548274 h 552245"/>
              <a:gd name="connsiteX5" fmla="*/ 4394287 w 13481537"/>
              <a:gd name="connsiteY5" fmla="*/ 549863 h 552245"/>
              <a:gd name="connsiteX6" fmla="*/ 2486 w 13481537"/>
              <a:gd name="connsiteY6" fmla="*/ 552245 h 55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81537" h="552245">
                <a:moveTo>
                  <a:pt x="2486" y="552245"/>
                </a:moveTo>
                <a:cubicBezTo>
                  <a:pt x="3280" y="369682"/>
                  <a:pt x="-689" y="184739"/>
                  <a:pt x="105" y="2176"/>
                </a:cubicBezTo>
                <a:lnTo>
                  <a:pt x="13295057" y="586"/>
                </a:lnTo>
                <a:lnTo>
                  <a:pt x="13481537" y="0"/>
                </a:lnTo>
                <a:lnTo>
                  <a:pt x="13295057" y="548274"/>
                </a:lnTo>
                <a:lnTo>
                  <a:pt x="4394287" y="549863"/>
                </a:lnTo>
                <a:lnTo>
                  <a:pt x="2486" y="552245"/>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highlight>
                <a:srgbClr val="FFFF00"/>
              </a:highlight>
            </a:endParaRPr>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4B13216C-F497-49AA-BEA6-B741E2AD5D8B}" type="datetime1">
              <a:rPr lang="en-US" smtClean="0"/>
              <a:t>11/7/2024</a:t>
            </a:fld>
            <a:endParaRPr lang="nl-BE" dirty="0"/>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AI Applied maths - Introduction to the course</a:t>
            </a:r>
            <a:endParaRPr lang="nl-BE" dirty="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smtClean="0"/>
              <a:t>‹#›</a:t>
            </a:fld>
            <a:endParaRPr lang="nl-BE" dirty="0"/>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userDrawn="1"/>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5991268" y="9146698"/>
            <a:ext cx="1841920" cy="943902"/>
          </a:xfrm>
          <a:prstGeom prst="rect">
            <a:avLst/>
          </a:prstGeom>
        </p:spPr>
      </p:pic>
      <p:sp>
        <p:nvSpPr>
          <p:cNvPr id="155" name="Rechthoek 154">
            <a:extLst>
              <a:ext uri="{FF2B5EF4-FFF2-40B4-BE49-F238E27FC236}">
                <a16:creationId xmlns:a16="http://schemas.microsoft.com/office/drawing/2014/main" id="{3006AA6B-15EB-4DBD-8F12-1BA7B403185D}"/>
              </a:ext>
            </a:extLst>
          </p:cNvPr>
          <p:cNvSpPr/>
          <p:nvPr userDrawn="1"/>
        </p:nvSpPr>
        <p:spPr>
          <a:xfrm>
            <a:off x="13857675" y="9308422"/>
            <a:ext cx="1714500" cy="5476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t>Plaats</a:t>
            </a:r>
            <a:r>
              <a:rPr lang="en-US" sz="1100" dirty="0"/>
              <a:t> logo </a:t>
            </a:r>
            <a:r>
              <a:rPr lang="en-US" sz="1100" dirty="0" err="1"/>
              <a:t>hier</a:t>
            </a:r>
            <a:r>
              <a:rPr lang="en-US" sz="1100" dirty="0"/>
              <a:t> in het </a:t>
            </a:r>
            <a:r>
              <a:rPr lang="en-US" sz="1100" dirty="0" err="1"/>
              <a:t>diamodel</a:t>
            </a:r>
            <a:endParaRPr lang="nl-BE" sz="1100" dirty="0"/>
          </a:p>
        </p:txBody>
      </p:sp>
    </p:spTree>
    <p:extLst>
      <p:ext uri="{BB962C8B-B14F-4D97-AF65-F5344CB8AC3E}">
        <p14:creationId xmlns:p14="http://schemas.microsoft.com/office/powerpoint/2010/main" val="3064038114"/>
      </p:ext>
    </p:extLst>
  </p:cSld>
  <p:clrMap bg1="lt1" tx1="dk1" bg2="lt2" tx2="dk2" accent1="accent1" accent2="accent2" accent3="accent3" accent4="accent4" accent5="accent5" accent6="accent6" hlink="hlink" folHlink="folHlink"/>
  <p:sldLayoutIdLst>
    <p:sldLayoutId id="2147483737" r:id="rId1"/>
    <p:sldLayoutId id="2147483739" r:id="rId2"/>
    <p:sldLayoutId id="2147483738"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3"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F7DFF-D181-42D4-181D-90FE2B42896D}"/>
              </a:ext>
            </a:extLst>
          </p:cNvPr>
          <p:cNvSpPr>
            <a:spLocks noGrp="1"/>
          </p:cNvSpPr>
          <p:nvPr>
            <p:ph type="ctrTitle"/>
          </p:nvPr>
        </p:nvSpPr>
        <p:spPr>
          <a:xfrm>
            <a:off x="5149215" y="4078514"/>
            <a:ext cx="12376786" cy="2613650"/>
          </a:xfrm>
        </p:spPr>
        <p:txBody>
          <a:bodyPr/>
          <a:lstStyle/>
          <a:p>
            <a:pPr algn="l"/>
            <a:br>
              <a:rPr lang="nl-NL"/>
            </a:br>
            <a:br>
              <a:rPr lang="en-BE" sz="1800" b="0" i="0" u="none" strike="noStrike" baseline="0">
                <a:solidFill>
                  <a:srgbClr val="000000"/>
                </a:solidFill>
                <a:latin typeface="Calibri" panose="020F0502020204030204" pitchFamily="34" charset="0"/>
              </a:rPr>
            </a:br>
            <a:r>
              <a:rPr lang="en-GB"/>
              <a:t>Virtual GlobeTrotter :</a:t>
            </a:r>
            <a:br>
              <a:rPr lang="en-GB"/>
            </a:br>
            <a:r>
              <a:rPr lang="en-GB"/>
              <a:t>Travel and see nice spots </a:t>
            </a:r>
            <a:br>
              <a:rPr lang="en-GB"/>
            </a:br>
            <a:r>
              <a:rPr lang="en-GB" sz="2800"/>
              <a:t>* even when you have to stay home </a:t>
            </a:r>
            <a:endParaRPr lang="en-US" sz="2800" dirty="0"/>
          </a:p>
        </p:txBody>
      </p:sp>
      <p:sp>
        <p:nvSpPr>
          <p:cNvPr id="3" name="Subtitle 2">
            <a:extLst>
              <a:ext uri="{FF2B5EF4-FFF2-40B4-BE49-F238E27FC236}">
                <a16:creationId xmlns:a16="http://schemas.microsoft.com/office/drawing/2014/main" id="{DA6F397F-E896-1BE7-100B-E940321490F1}"/>
              </a:ext>
            </a:extLst>
          </p:cNvPr>
          <p:cNvSpPr>
            <a:spLocks noGrp="1"/>
          </p:cNvSpPr>
          <p:nvPr>
            <p:ph type="subTitle" idx="1"/>
          </p:nvPr>
        </p:nvSpPr>
        <p:spPr>
          <a:xfrm>
            <a:off x="5149215" y="7494269"/>
            <a:ext cx="12376786" cy="2483643"/>
          </a:xfrm>
        </p:spPr>
        <p:txBody>
          <a:bodyPr/>
          <a:lstStyle/>
          <a:p>
            <a:endParaRPr lang="nl-NL" dirty="0"/>
          </a:p>
          <a:p>
            <a:r>
              <a:rPr lang="en-US" dirty="0"/>
              <a:t>Ergo G3: </a:t>
            </a:r>
          </a:p>
          <a:p>
            <a:r>
              <a:rPr lang="en-US" dirty="0"/>
              <a:t>Viola Nguyen </a:t>
            </a:r>
          </a:p>
          <a:p>
            <a:r>
              <a:rPr lang="en-US" dirty="0" err="1"/>
              <a:t>Atvars</a:t>
            </a:r>
            <a:r>
              <a:rPr lang="en-US" dirty="0"/>
              <a:t> </a:t>
            </a:r>
            <a:r>
              <a:rPr lang="en-US" dirty="0" err="1"/>
              <a:t>Apinis</a:t>
            </a:r>
            <a:endParaRPr lang="en-US" dirty="0"/>
          </a:p>
          <a:p>
            <a:r>
              <a:rPr lang="en-US" dirty="0"/>
              <a:t>Isabelle Deslé</a:t>
            </a:r>
          </a:p>
          <a:p>
            <a:r>
              <a:rPr lang="en-US" sz="2800" dirty="0"/>
              <a:t>			</a:t>
            </a:r>
          </a:p>
          <a:p>
            <a:endParaRPr lang="nl-NL" dirty="0"/>
          </a:p>
          <a:p>
            <a:endParaRPr lang="en-US" dirty="0"/>
          </a:p>
        </p:txBody>
      </p:sp>
    </p:spTree>
    <p:extLst>
      <p:ext uri="{BB962C8B-B14F-4D97-AF65-F5344CB8AC3E}">
        <p14:creationId xmlns:p14="http://schemas.microsoft.com/office/powerpoint/2010/main" val="1123400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AC5DD-3CA4-C3F7-5470-9BEF1C3353D4}"/>
              </a:ext>
            </a:extLst>
          </p:cNvPr>
          <p:cNvSpPr>
            <a:spLocks noGrp="1"/>
          </p:cNvSpPr>
          <p:nvPr>
            <p:ph type="ctrTitle"/>
          </p:nvPr>
        </p:nvSpPr>
        <p:spPr/>
        <p:txBody>
          <a:bodyPr/>
          <a:lstStyle/>
          <a:p>
            <a:r>
              <a:rPr lang="nl-BE" dirty="0" err="1"/>
              <a:t>Table</a:t>
            </a:r>
            <a:r>
              <a:rPr lang="nl-BE" dirty="0"/>
              <a:t> of content</a:t>
            </a:r>
            <a:endParaRPr lang="en-US" dirty="0"/>
          </a:p>
        </p:txBody>
      </p:sp>
      <p:sp>
        <p:nvSpPr>
          <p:cNvPr id="3" name="Subtitle 2">
            <a:extLst>
              <a:ext uri="{FF2B5EF4-FFF2-40B4-BE49-F238E27FC236}">
                <a16:creationId xmlns:a16="http://schemas.microsoft.com/office/drawing/2014/main" id="{D9B96136-46A2-10E3-3E3D-CA5E42D3EA30}"/>
              </a:ext>
            </a:extLst>
          </p:cNvPr>
          <p:cNvSpPr>
            <a:spLocks noGrp="1"/>
          </p:cNvSpPr>
          <p:nvPr>
            <p:ph type="subTitle" idx="1"/>
          </p:nvPr>
        </p:nvSpPr>
        <p:spPr>
          <a:xfrm>
            <a:off x="4954136" y="3432788"/>
            <a:ext cx="12376786" cy="6659479"/>
          </a:xfrm>
        </p:spPr>
        <p:txBody>
          <a:bodyPr/>
          <a:lstStyle/>
          <a:p>
            <a:r>
              <a:rPr lang="en-GB" b="1" dirty="0"/>
              <a:t>Team Role distribution</a:t>
            </a:r>
          </a:p>
          <a:p>
            <a:r>
              <a:rPr lang="en-GB" b="1" dirty="0"/>
              <a:t>Project Description</a:t>
            </a:r>
          </a:p>
          <a:p>
            <a:r>
              <a:rPr lang="en-GB" b="1" dirty="0"/>
              <a:t>Story Points</a:t>
            </a:r>
          </a:p>
          <a:p>
            <a:r>
              <a:rPr lang="en-GB" b="1" dirty="0"/>
              <a:t>Trello</a:t>
            </a:r>
          </a:p>
          <a:p>
            <a:r>
              <a:rPr lang="en-GB" b="1" dirty="0"/>
              <a:t>Technical Solution</a:t>
            </a:r>
          </a:p>
          <a:p>
            <a:pPr lvl="1" algn="l">
              <a:buFont typeface="Arial" panose="020B0604020202020204" pitchFamily="34" charset="0"/>
              <a:buChar char="•"/>
            </a:pPr>
            <a:r>
              <a:rPr lang="en-GB" sz="2400" b="1" dirty="0">
                <a:solidFill>
                  <a:schemeClr val="bg1"/>
                </a:solidFill>
              </a:rPr>
              <a:t>You decide</a:t>
            </a:r>
          </a:p>
          <a:p>
            <a:pPr lvl="1" algn="l">
              <a:buFont typeface="Arial" panose="020B0604020202020204" pitchFamily="34" charset="0"/>
              <a:buChar char="•"/>
            </a:pPr>
            <a:r>
              <a:rPr lang="en-GB" sz="2400" b="1" dirty="0">
                <a:solidFill>
                  <a:schemeClr val="bg1"/>
                </a:solidFill>
              </a:rPr>
              <a:t>Help us</a:t>
            </a:r>
          </a:p>
          <a:p>
            <a:pPr lvl="1" algn="l">
              <a:buFont typeface="Arial" panose="020B0604020202020204" pitchFamily="34" charset="0"/>
              <a:buChar char="•"/>
            </a:pPr>
            <a:r>
              <a:rPr lang="en-GB" sz="2400" b="1" dirty="0">
                <a:solidFill>
                  <a:schemeClr val="bg1"/>
                </a:solidFill>
              </a:rPr>
              <a:t>Find the best one</a:t>
            </a:r>
          </a:p>
          <a:p>
            <a:pPr lvl="1" algn="l">
              <a:buFont typeface="Arial" panose="020B0604020202020204" pitchFamily="34" charset="0"/>
              <a:buChar char="•"/>
            </a:pPr>
            <a:r>
              <a:rPr lang="en-GB" sz="2400" b="1" dirty="0">
                <a:solidFill>
                  <a:schemeClr val="bg1"/>
                </a:solidFill>
              </a:rPr>
              <a:t>Or else create it</a:t>
            </a:r>
          </a:p>
          <a:p>
            <a:pPr lvl="1" algn="l">
              <a:buFont typeface="Arial" panose="020B0604020202020204" pitchFamily="34" charset="0"/>
              <a:buChar char="•"/>
            </a:pPr>
            <a:r>
              <a:rPr lang="en-GB" sz="2400" b="1" dirty="0">
                <a:solidFill>
                  <a:schemeClr val="bg1"/>
                </a:solidFill>
              </a:rPr>
              <a:t>Eyes and Ears Ready? 	</a:t>
            </a:r>
          </a:p>
          <a:p>
            <a:pPr lvl="1" algn="l">
              <a:buFont typeface="Arial" panose="020B0604020202020204" pitchFamily="34" charset="0"/>
              <a:buChar char="•"/>
            </a:pPr>
            <a:endParaRPr lang="en-GB" sz="2400" b="1" dirty="0">
              <a:solidFill>
                <a:schemeClr val="bg1"/>
              </a:solidFill>
            </a:endParaRPr>
          </a:p>
          <a:p>
            <a:pPr lvl="1" algn="l">
              <a:buFont typeface="Arial" panose="020B0604020202020204" pitchFamily="34" charset="0"/>
              <a:buChar char="•"/>
            </a:pPr>
            <a:endParaRPr lang="en-GB" sz="2400" b="1" dirty="0">
              <a:solidFill>
                <a:schemeClr val="bg1"/>
              </a:solidFill>
            </a:endParaRPr>
          </a:p>
          <a:p>
            <a:pPr lvl="1" algn="l">
              <a:buFont typeface="Arial" panose="020B0604020202020204" pitchFamily="34" charset="0"/>
              <a:buChar char="•"/>
            </a:pPr>
            <a:endParaRPr lang="en-GB" sz="2400" b="1" dirty="0">
              <a:solidFill>
                <a:schemeClr val="bg1"/>
              </a:solidFill>
            </a:endParaRPr>
          </a:p>
          <a:p>
            <a:pPr lvl="1" algn="l">
              <a:buFont typeface="Arial" panose="020B0604020202020204" pitchFamily="34" charset="0"/>
              <a:buChar char="•"/>
            </a:pPr>
            <a:endParaRPr lang="en-GB" sz="2400" b="1" dirty="0">
              <a:solidFill>
                <a:schemeClr val="bg1"/>
              </a:solidFill>
            </a:endParaRPr>
          </a:p>
          <a:p>
            <a:pPr lvl="1">
              <a:buFont typeface="Arial" panose="020B0604020202020204" pitchFamily="34" charset="0"/>
              <a:buChar char="•"/>
            </a:pPr>
            <a:endParaRPr lang="en-GB" b="1" dirty="0"/>
          </a:p>
          <a:p>
            <a:pPr lvl="1"/>
            <a:endParaRPr lang="en-GB" b="1" dirty="0"/>
          </a:p>
          <a:p>
            <a:pPr lvl="1"/>
            <a:endParaRPr lang="en-GB" b="1"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899062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B6C5E-0178-B5FE-1D05-75D49D8521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ED60C94-988E-89D1-E3F6-00463D53BD8A}"/>
              </a:ext>
            </a:extLst>
          </p:cNvPr>
          <p:cNvSpPr>
            <a:spLocks noGrp="1"/>
          </p:cNvSpPr>
          <p:nvPr>
            <p:ph type="sldNum" sz="quarter" idx="12"/>
          </p:nvPr>
        </p:nvSpPr>
        <p:spPr/>
        <p:txBody>
          <a:bodyPr/>
          <a:lstStyle/>
          <a:p>
            <a:fld id="{B7527A74-2D87-4307-9531-5A57D9647EEB}" type="slidenum">
              <a:rPr lang="nl-BE" smtClean="0"/>
              <a:pPr/>
              <a:t>3</a:t>
            </a:fld>
            <a:endParaRPr lang="nl-BE"/>
          </a:p>
        </p:txBody>
      </p:sp>
      <p:sp>
        <p:nvSpPr>
          <p:cNvPr id="4" name="Title 3">
            <a:extLst>
              <a:ext uri="{FF2B5EF4-FFF2-40B4-BE49-F238E27FC236}">
                <a16:creationId xmlns:a16="http://schemas.microsoft.com/office/drawing/2014/main" id="{672DAD8B-0ABD-CFEB-3CE1-9F2A26BAC6D0}"/>
              </a:ext>
            </a:extLst>
          </p:cNvPr>
          <p:cNvSpPr>
            <a:spLocks noGrp="1"/>
          </p:cNvSpPr>
          <p:nvPr>
            <p:ph type="title"/>
          </p:nvPr>
        </p:nvSpPr>
        <p:spPr/>
        <p:txBody>
          <a:bodyPr/>
          <a:lstStyle/>
          <a:p>
            <a:r>
              <a:rPr lang="nl-BE" dirty="0"/>
              <a:t>Team </a:t>
            </a:r>
            <a:r>
              <a:rPr lang="nl-BE" dirty="0" err="1"/>
              <a:t>Role</a:t>
            </a:r>
            <a:r>
              <a:rPr lang="nl-BE" dirty="0"/>
              <a:t> Distribution</a:t>
            </a:r>
            <a:endParaRPr lang="en-US" dirty="0"/>
          </a:p>
        </p:txBody>
      </p:sp>
      <p:sp>
        <p:nvSpPr>
          <p:cNvPr id="5" name="Date Placeholder 4">
            <a:extLst>
              <a:ext uri="{FF2B5EF4-FFF2-40B4-BE49-F238E27FC236}">
                <a16:creationId xmlns:a16="http://schemas.microsoft.com/office/drawing/2014/main" id="{03126820-7F9B-41D1-1847-621AF61EDDD3}"/>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3D77B045-7D98-F3BA-F431-D5094AAA2059}"/>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graphicFrame>
        <p:nvGraphicFramePr>
          <p:cNvPr id="7" name="Table 6">
            <a:extLst>
              <a:ext uri="{FF2B5EF4-FFF2-40B4-BE49-F238E27FC236}">
                <a16:creationId xmlns:a16="http://schemas.microsoft.com/office/drawing/2014/main" id="{E381A0C2-3619-269E-68B3-41B09D916A76}"/>
              </a:ext>
            </a:extLst>
          </p:cNvPr>
          <p:cNvGraphicFramePr>
            <a:graphicFrameLocks noGrp="1"/>
          </p:cNvGraphicFramePr>
          <p:nvPr>
            <p:extLst>
              <p:ext uri="{D42A27DB-BD31-4B8C-83A1-F6EECF244321}">
                <p14:modId xmlns:p14="http://schemas.microsoft.com/office/powerpoint/2010/main" val="3350387795"/>
              </p:ext>
            </p:extLst>
          </p:nvPr>
        </p:nvGraphicFramePr>
        <p:xfrm>
          <a:off x="998692" y="2177448"/>
          <a:ext cx="16476507" cy="8859520"/>
        </p:xfrm>
        <a:graphic>
          <a:graphicData uri="http://schemas.openxmlformats.org/drawingml/2006/table">
            <a:tbl>
              <a:tblPr firstRow="1" bandRow="1">
                <a:tableStyleId>{5C22544A-7EE6-4342-B048-85BDC9FD1C3A}</a:tableStyleId>
              </a:tblPr>
              <a:tblGrid>
                <a:gridCol w="5492169">
                  <a:extLst>
                    <a:ext uri="{9D8B030D-6E8A-4147-A177-3AD203B41FA5}">
                      <a16:colId xmlns:a16="http://schemas.microsoft.com/office/drawing/2014/main" val="1373000918"/>
                    </a:ext>
                  </a:extLst>
                </a:gridCol>
                <a:gridCol w="5492169">
                  <a:extLst>
                    <a:ext uri="{9D8B030D-6E8A-4147-A177-3AD203B41FA5}">
                      <a16:colId xmlns:a16="http://schemas.microsoft.com/office/drawing/2014/main" val="4086320039"/>
                    </a:ext>
                  </a:extLst>
                </a:gridCol>
                <a:gridCol w="5492169">
                  <a:extLst>
                    <a:ext uri="{9D8B030D-6E8A-4147-A177-3AD203B41FA5}">
                      <a16:colId xmlns:a16="http://schemas.microsoft.com/office/drawing/2014/main" val="3944305718"/>
                    </a:ext>
                  </a:extLst>
                </a:gridCol>
              </a:tblGrid>
              <a:tr h="1440180">
                <a:tc>
                  <a:txBody>
                    <a:bodyPr/>
                    <a:lstStyle/>
                    <a:p>
                      <a:pPr algn="ctr"/>
                      <a:r>
                        <a:rPr lang="en-GB" sz="2700" b="1" kern="1200" dirty="0">
                          <a:solidFill>
                            <a:schemeClr val="tx1"/>
                          </a:solidFill>
                          <a:latin typeface="+mn-lt"/>
                          <a:ea typeface="+mn-ea"/>
                          <a:cs typeface="+mn-cs"/>
                        </a:rPr>
                        <a:t>Viola</a:t>
                      </a:r>
                      <a:endParaRPr lang="en-BE" sz="2700" b="1" kern="1200" dirty="0">
                        <a:solidFill>
                          <a:schemeClr val="tx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GB" sz="2700" b="1" kern="1200" dirty="0" err="1">
                          <a:solidFill>
                            <a:schemeClr val="tx1"/>
                          </a:solidFill>
                          <a:latin typeface="+mn-lt"/>
                          <a:ea typeface="+mn-ea"/>
                          <a:cs typeface="+mn-cs"/>
                        </a:rPr>
                        <a:t>Atvars</a:t>
                      </a:r>
                      <a:endParaRPr lang="en-BE" sz="2700" b="1" kern="1200" dirty="0">
                        <a:solidFill>
                          <a:schemeClr val="tx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algn="ctr" defTabSz="1371600" rtl="0" eaLnBrk="1" latinLnBrk="0" hangingPunct="1"/>
                      <a:r>
                        <a:rPr lang="en-GB" sz="2700" b="1" kern="1200" dirty="0">
                          <a:solidFill>
                            <a:schemeClr val="tx1"/>
                          </a:solidFill>
                          <a:latin typeface="+mn-lt"/>
                          <a:ea typeface="+mn-ea"/>
                          <a:cs typeface="+mn-cs"/>
                        </a:rPr>
                        <a:t>Isabelle</a:t>
                      </a:r>
                      <a:endParaRPr lang="en-BE" sz="2700" b="1" kern="1200" dirty="0">
                        <a:solidFill>
                          <a:schemeClr val="tx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64066188"/>
                  </a:ext>
                </a:extLst>
              </a:tr>
              <a:tr h="1440180">
                <a:tc>
                  <a:txBody>
                    <a:bodyPr/>
                    <a:lstStyle/>
                    <a:p>
                      <a:endParaRPr lang="en-B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4468152"/>
                  </a:ext>
                </a:extLst>
              </a:tr>
              <a:tr h="949960">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0491156"/>
                  </a:ext>
                </a:extLst>
              </a:tr>
              <a:tr h="1440180">
                <a:tc>
                  <a:txBody>
                    <a:bodyPr/>
                    <a:lstStyle/>
                    <a:p>
                      <a:pPr algn="ctr"/>
                      <a:r>
                        <a:rPr lang="en-GB" dirty="0"/>
                        <a:t>Scrum Master </a:t>
                      </a:r>
                    </a:p>
                    <a:p>
                      <a:pPr algn="ctr"/>
                      <a:r>
                        <a:rPr lang="en-GB" dirty="0"/>
                        <a:t>API</a:t>
                      </a:r>
                    </a:p>
                    <a:p>
                      <a:pPr algn="ctr"/>
                      <a:r>
                        <a:rPr lang="en-GB" dirty="0"/>
                        <a:t>UI</a:t>
                      </a:r>
                    </a:p>
                    <a:p>
                      <a:pPr algn="ctr"/>
                      <a:r>
                        <a:rPr lang="en-GB" dirty="0"/>
                        <a:t>Trello</a:t>
                      </a:r>
                    </a:p>
                    <a:p>
                      <a:pPr algn="ctr"/>
                      <a:r>
                        <a:rPr lang="en-GB" dirty="0"/>
                        <a:t>Connectivity</a:t>
                      </a:r>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GB" dirty="0"/>
                        <a:t>Development</a:t>
                      </a:r>
                    </a:p>
                    <a:p>
                      <a:pPr algn="ctr"/>
                      <a:r>
                        <a:rPr lang="en-GB" dirty="0"/>
                        <a:t>AI</a:t>
                      </a:r>
                    </a:p>
                    <a:p>
                      <a:pPr algn="ctr"/>
                      <a:r>
                        <a:rPr lang="en-GB" dirty="0"/>
                        <a:t>Unity</a:t>
                      </a:r>
                    </a:p>
                    <a:p>
                      <a:pPr marL="0" marR="0" lvl="0" indent="0" algn="ctr" defTabSz="1371600" rtl="0" eaLnBrk="1" fontAlgn="auto" latinLnBrk="0" hangingPunct="1">
                        <a:lnSpc>
                          <a:spcPct val="100000"/>
                        </a:lnSpc>
                        <a:spcBef>
                          <a:spcPts val="0"/>
                        </a:spcBef>
                        <a:spcAft>
                          <a:spcPts val="0"/>
                        </a:spcAft>
                        <a:buClrTx/>
                        <a:buSzTx/>
                        <a:buFontTx/>
                        <a:buNone/>
                        <a:tabLst/>
                        <a:defRPr/>
                      </a:pPr>
                      <a:r>
                        <a:rPr lang="en-GB" dirty="0"/>
                        <a:t>Connectivity</a:t>
                      </a:r>
                      <a:endParaRPr lang="en-BE" dirty="0"/>
                    </a:p>
                    <a:p>
                      <a:pPr algn="ctr"/>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GB" dirty="0"/>
                        <a:t>Product Owner </a:t>
                      </a:r>
                    </a:p>
                    <a:p>
                      <a:pPr algn="ctr"/>
                      <a:r>
                        <a:rPr lang="en-GB" dirty="0"/>
                        <a:t>Database</a:t>
                      </a:r>
                    </a:p>
                    <a:p>
                      <a:pPr algn="ctr"/>
                      <a:r>
                        <a:rPr lang="en-GB" dirty="0"/>
                        <a:t>Documentation</a:t>
                      </a:r>
                    </a:p>
                    <a:p>
                      <a:pPr marL="0" marR="0" lvl="0" indent="0" algn="ctr" defTabSz="1371600" rtl="0" eaLnBrk="1" fontAlgn="auto" latinLnBrk="0" hangingPunct="1">
                        <a:lnSpc>
                          <a:spcPct val="100000"/>
                        </a:lnSpc>
                        <a:spcBef>
                          <a:spcPts val="0"/>
                        </a:spcBef>
                        <a:spcAft>
                          <a:spcPts val="0"/>
                        </a:spcAft>
                        <a:buClrTx/>
                        <a:buSzTx/>
                        <a:buFontTx/>
                        <a:buNone/>
                        <a:tabLst/>
                        <a:defRPr/>
                      </a:pPr>
                      <a:r>
                        <a:rPr lang="en-GB" dirty="0"/>
                        <a:t>Connectivity</a:t>
                      </a:r>
                      <a:endParaRPr lang="en-BE" dirty="0"/>
                    </a:p>
                    <a:p>
                      <a:pPr algn="ctr"/>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60141429"/>
                  </a:ext>
                </a:extLst>
              </a:tr>
              <a:tr h="1440180">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626296"/>
                  </a:ext>
                </a:extLst>
              </a:tr>
              <a:tr h="1440180">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BE"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35923061"/>
                  </a:ext>
                </a:extLst>
              </a:tr>
            </a:tbl>
          </a:graphicData>
        </a:graphic>
      </p:graphicFrame>
      <p:pic>
        <p:nvPicPr>
          <p:cNvPr id="10" name="Picture 9">
            <a:extLst>
              <a:ext uri="{FF2B5EF4-FFF2-40B4-BE49-F238E27FC236}">
                <a16:creationId xmlns:a16="http://schemas.microsoft.com/office/drawing/2014/main" id="{D0ACA04E-4ABE-026D-7954-9834229DD7EF}"/>
              </a:ext>
            </a:extLst>
          </p:cNvPr>
          <p:cNvPicPr>
            <a:picLocks noChangeAspect="1"/>
          </p:cNvPicPr>
          <p:nvPr/>
        </p:nvPicPr>
        <p:blipFill>
          <a:blip r:embed="rId2"/>
          <a:srcRect t="8274"/>
          <a:stretch/>
        </p:blipFill>
        <p:spPr>
          <a:xfrm>
            <a:off x="7716371" y="2924814"/>
            <a:ext cx="3140269" cy="2869058"/>
          </a:xfrm>
          <a:prstGeom prst="rect">
            <a:avLst/>
          </a:prstGeom>
        </p:spPr>
      </p:pic>
      <p:pic>
        <p:nvPicPr>
          <p:cNvPr id="8" name="Picture 7">
            <a:extLst>
              <a:ext uri="{FF2B5EF4-FFF2-40B4-BE49-F238E27FC236}">
                <a16:creationId xmlns:a16="http://schemas.microsoft.com/office/drawing/2014/main" id="{D8194A9C-E306-9206-027C-A18A6A9ECA75}"/>
              </a:ext>
            </a:extLst>
          </p:cNvPr>
          <p:cNvPicPr>
            <a:picLocks noChangeAspect="1"/>
          </p:cNvPicPr>
          <p:nvPr/>
        </p:nvPicPr>
        <p:blipFill>
          <a:blip r:embed="rId3"/>
          <a:srcRect t="4801" b="5306"/>
          <a:stretch/>
        </p:blipFill>
        <p:spPr>
          <a:xfrm>
            <a:off x="2375324" y="2924814"/>
            <a:ext cx="3012127" cy="2707668"/>
          </a:xfrm>
          <a:prstGeom prst="rect">
            <a:avLst/>
          </a:prstGeom>
        </p:spPr>
      </p:pic>
      <p:pic>
        <p:nvPicPr>
          <p:cNvPr id="12" name="Picture 11">
            <a:extLst>
              <a:ext uri="{FF2B5EF4-FFF2-40B4-BE49-F238E27FC236}">
                <a16:creationId xmlns:a16="http://schemas.microsoft.com/office/drawing/2014/main" id="{6CA01EEF-5DCC-BF97-4DE5-A4E6C944EF6A}"/>
              </a:ext>
            </a:extLst>
          </p:cNvPr>
          <p:cNvPicPr>
            <a:picLocks noChangeAspect="1"/>
          </p:cNvPicPr>
          <p:nvPr/>
        </p:nvPicPr>
        <p:blipFill>
          <a:blip r:embed="rId4"/>
          <a:stretch>
            <a:fillRect/>
          </a:stretch>
        </p:blipFill>
        <p:spPr>
          <a:xfrm>
            <a:off x="13308275" y="2924814"/>
            <a:ext cx="3225478" cy="2788947"/>
          </a:xfrm>
          <a:prstGeom prst="rect">
            <a:avLst/>
          </a:prstGeom>
        </p:spPr>
      </p:pic>
    </p:spTree>
    <p:extLst>
      <p:ext uri="{BB962C8B-B14F-4D97-AF65-F5344CB8AC3E}">
        <p14:creationId xmlns:p14="http://schemas.microsoft.com/office/powerpoint/2010/main" val="4199928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7EE40-09D8-9419-22C8-5D29FD4833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A9A6AC-34CF-34F6-DC2C-52EBD80E5872}"/>
              </a:ext>
            </a:extLst>
          </p:cNvPr>
          <p:cNvSpPr>
            <a:spLocks noGrp="1"/>
          </p:cNvSpPr>
          <p:nvPr>
            <p:ph type="body" sz="quarter" idx="17"/>
          </p:nvPr>
        </p:nvSpPr>
        <p:spPr>
          <a:xfrm>
            <a:off x="1050131" y="2354401"/>
            <a:ext cx="16575629" cy="6952316"/>
          </a:xfrm>
        </p:spPr>
        <p:txBody>
          <a:bodyPr/>
          <a:lstStyle/>
          <a:p>
            <a:r>
              <a:rPr lang="en-GB" sz="2800" b="1" dirty="0"/>
              <a:t>What</a:t>
            </a:r>
            <a:r>
              <a:rPr lang="en-GB" sz="2800" dirty="0"/>
              <a:t>? 360° AI generated immersion based on voice input to simulate a study trip. </a:t>
            </a:r>
          </a:p>
          <a:p>
            <a:r>
              <a:rPr lang="en-GB" sz="1800" b="0" i="0" u="none" strike="noStrike" baseline="0" dirty="0">
                <a:solidFill>
                  <a:srgbClr val="000000"/>
                </a:solidFill>
                <a:latin typeface="Calibri" panose="020F0502020204030204" pitchFamily="34" charset="0"/>
              </a:rPr>
              <a:t> </a:t>
            </a:r>
            <a:r>
              <a:rPr lang="en-GB" sz="1800" b="0" i="0" u="none" strike="noStrike" baseline="0" dirty="0">
                <a:solidFill>
                  <a:srgbClr val="6F2F9F"/>
                </a:solidFill>
                <a:latin typeface="Calibri" panose="020F0502020204030204" pitchFamily="34" charset="0"/>
              </a:rPr>
              <a:t>The "Virtual Globetrotter" project aims to provide children with an opportunity to experience the world virtually using our immersive room. Children can explore locations using an interactive map. These virtual trips will utilize AI-generated images, speech recognition, and real-time audio to create an immersive and enriching experience. </a:t>
            </a:r>
            <a:endParaRPr lang="en-GB" sz="2800" dirty="0"/>
          </a:p>
          <a:p>
            <a:pPr algn="l"/>
            <a:endParaRPr lang="en-GB" sz="2800" dirty="0"/>
          </a:p>
          <a:p>
            <a:pPr algn="l"/>
            <a:r>
              <a:rPr lang="en-GB" sz="2800" b="1" dirty="0"/>
              <a:t>For</a:t>
            </a:r>
            <a:r>
              <a:rPr lang="en-GB" sz="2800" dirty="0"/>
              <a:t>? Children </a:t>
            </a:r>
            <a:r>
              <a:rPr lang="en-GB" sz="2800" dirty="0">
                <a:solidFill>
                  <a:srgbClr val="FF0000"/>
                </a:solidFill>
              </a:rPr>
              <a:t>around</a:t>
            </a:r>
            <a:r>
              <a:rPr lang="en-GB" sz="2800" dirty="0"/>
              <a:t> </a:t>
            </a:r>
            <a:r>
              <a:rPr lang="en-GB" sz="2800" dirty="0">
                <a:solidFill>
                  <a:srgbClr val="FF0000"/>
                </a:solidFill>
              </a:rPr>
              <a:t>10 yrs? </a:t>
            </a:r>
            <a:endParaRPr lang="en-BE" sz="1800" b="0" i="0" u="none" strike="noStrike" baseline="0" dirty="0">
              <a:solidFill>
                <a:srgbClr val="000000"/>
              </a:solidFill>
              <a:latin typeface="Calibri" panose="020F0502020204030204" pitchFamily="34" charset="0"/>
            </a:endParaRPr>
          </a:p>
          <a:p>
            <a:r>
              <a:rPr lang="en-GB" sz="1800" b="0" i="0" u="none" strike="noStrike" baseline="0" dirty="0">
                <a:solidFill>
                  <a:srgbClr val="000000"/>
                </a:solidFill>
                <a:latin typeface="Calibri" panose="020F0502020204030204" pitchFamily="34" charset="0"/>
              </a:rPr>
              <a:t> </a:t>
            </a:r>
            <a:r>
              <a:rPr lang="en-GB" sz="1800" b="0" i="0" u="none" strike="noStrike" baseline="0" dirty="0">
                <a:solidFill>
                  <a:srgbClr val="6F2F9F"/>
                </a:solidFill>
                <a:latin typeface="Calibri" panose="020F0502020204030204" pitchFamily="34" charset="0"/>
              </a:rPr>
              <a:t>Children who are vulnerable after surgery, during a treatment or because of a disability are not able to go on the trips the school or their family is doing. The child can go into the immersive room and travel to several spots in the world! </a:t>
            </a:r>
          </a:p>
          <a:p>
            <a:r>
              <a:rPr lang="en-GB" sz="2800" b="1" dirty="0"/>
              <a:t>Where</a:t>
            </a:r>
            <a:r>
              <a:rPr lang="en-GB" sz="2800" dirty="0"/>
              <a:t>? Immersive Room in Forum Core </a:t>
            </a:r>
            <a:r>
              <a:rPr lang="en-GB" sz="2800" dirty="0" err="1"/>
              <a:t>Howest</a:t>
            </a:r>
            <a:endParaRPr lang="en-GB" sz="2800" dirty="0"/>
          </a:p>
          <a:p>
            <a:r>
              <a:rPr lang="en-GB" sz="2800" dirty="0"/>
              <a:t>The child is in the immersive room and has a tablet or phone with the user interface connected to the pc in the immersive room. The child chooses a continent shown on the user interface and a 360° image is shown and music  is played corresponding to the choice. </a:t>
            </a:r>
          </a:p>
          <a:p>
            <a:r>
              <a:rPr lang="en-GB" sz="2800" dirty="0"/>
              <a:t>The child is then asked to say a location, landmark or point of interest it wants to explore. For example, the beach, the pyramids or Disneyland. </a:t>
            </a:r>
          </a:p>
          <a:p>
            <a:r>
              <a:rPr lang="en-GB" sz="2800" dirty="0"/>
              <a:t>The voice input is used by an AI model to generate another 360° image to show in the immersive room. </a:t>
            </a:r>
          </a:p>
          <a:p>
            <a:endParaRPr lang="en-GB" sz="2800" dirty="0"/>
          </a:p>
          <a:p>
            <a:endParaRPr lang="en-GB" sz="2800" dirty="0"/>
          </a:p>
          <a:p>
            <a:endParaRPr lang="en-GB" sz="2800" dirty="0"/>
          </a:p>
          <a:p>
            <a:endParaRPr lang="en-US" sz="2400" dirty="0"/>
          </a:p>
          <a:p>
            <a:endParaRPr lang="en-US" sz="2400" dirty="0"/>
          </a:p>
        </p:txBody>
      </p:sp>
      <p:sp>
        <p:nvSpPr>
          <p:cNvPr id="3" name="Slide Number Placeholder 2">
            <a:extLst>
              <a:ext uri="{FF2B5EF4-FFF2-40B4-BE49-F238E27FC236}">
                <a16:creationId xmlns:a16="http://schemas.microsoft.com/office/drawing/2014/main" id="{61B5BCE8-A13B-C3BA-89C3-1EA1968B31C1}"/>
              </a:ext>
            </a:extLst>
          </p:cNvPr>
          <p:cNvSpPr>
            <a:spLocks noGrp="1"/>
          </p:cNvSpPr>
          <p:nvPr>
            <p:ph type="sldNum" sz="quarter" idx="12"/>
          </p:nvPr>
        </p:nvSpPr>
        <p:spPr/>
        <p:txBody>
          <a:bodyPr/>
          <a:lstStyle/>
          <a:p>
            <a:fld id="{B7527A74-2D87-4307-9531-5A57D9647EEB}" type="slidenum">
              <a:rPr lang="nl-BE" smtClean="0"/>
              <a:pPr/>
              <a:t>4</a:t>
            </a:fld>
            <a:endParaRPr lang="nl-BE"/>
          </a:p>
        </p:txBody>
      </p:sp>
      <p:sp>
        <p:nvSpPr>
          <p:cNvPr id="4" name="Title 3">
            <a:extLst>
              <a:ext uri="{FF2B5EF4-FFF2-40B4-BE49-F238E27FC236}">
                <a16:creationId xmlns:a16="http://schemas.microsoft.com/office/drawing/2014/main" id="{9BB91777-2FA9-1F6C-4BC5-1021D63032BF}"/>
              </a:ext>
            </a:extLst>
          </p:cNvPr>
          <p:cNvSpPr>
            <a:spLocks noGrp="1"/>
          </p:cNvSpPr>
          <p:nvPr>
            <p:ph type="title"/>
          </p:nvPr>
        </p:nvSpPr>
        <p:spPr/>
        <p:txBody>
          <a:bodyPr/>
          <a:lstStyle/>
          <a:p>
            <a:r>
              <a:rPr lang="nl-BE" dirty="0"/>
              <a:t>Project </a:t>
            </a:r>
            <a:r>
              <a:rPr lang="nl-BE" dirty="0" err="1"/>
              <a:t>Description</a:t>
            </a:r>
            <a:endParaRPr lang="en-US" dirty="0"/>
          </a:p>
        </p:txBody>
      </p:sp>
      <p:sp>
        <p:nvSpPr>
          <p:cNvPr id="5" name="Date Placeholder 4">
            <a:extLst>
              <a:ext uri="{FF2B5EF4-FFF2-40B4-BE49-F238E27FC236}">
                <a16:creationId xmlns:a16="http://schemas.microsoft.com/office/drawing/2014/main" id="{210E22A0-922F-B011-0A63-903DC39B4B92}"/>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B7435AA6-DC96-4070-C688-A04912AF6062}"/>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1591845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4B6EB-6CCE-6D22-ADD3-6EA1B21967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33BEF8-AD07-252C-207F-15FF957966B0}"/>
              </a:ext>
            </a:extLst>
          </p:cNvPr>
          <p:cNvSpPr>
            <a:spLocks noGrp="1"/>
          </p:cNvSpPr>
          <p:nvPr>
            <p:ph type="title"/>
          </p:nvPr>
        </p:nvSpPr>
        <p:spPr>
          <a:xfrm>
            <a:off x="998692" y="888883"/>
            <a:ext cx="16575629" cy="755767"/>
          </a:xfrm>
        </p:spPr>
        <p:txBody>
          <a:bodyPr anchor="t">
            <a:normAutofit/>
          </a:bodyPr>
          <a:lstStyle/>
          <a:p>
            <a:pPr>
              <a:spcBef>
                <a:spcPts val="900"/>
              </a:spcBef>
              <a:spcAft>
                <a:spcPts val="900"/>
              </a:spcAft>
            </a:pPr>
            <a:r>
              <a:rPr lang="nl-BE" dirty="0"/>
              <a:t>Story points</a:t>
            </a:r>
            <a:endParaRPr lang="en-GB" b="0" i="0">
              <a:effectLst/>
            </a:endParaRPr>
          </a:p>
        </p:txBody>
      </p:sp>
      <p:sp>
        <p:nvSpPr>
          <p:cNvPr id="5" name="Date Placeholder 4">
            <a:extLst>
              <a:ext uri="{FF2B5EF4-FFF2-40B4-BE49-F238E27FC236}">
                <a16:creationId xmlns:a16="http://schemas.microsoft.com/office/drawing/2014/main" id="{ED78EA07-D342-8649-1C41-93EAAD33A3E3}"/>
              </a:ext>
            </a:extLst>
          </p:cNvPr>
          <p:cNvSpPr>
            <a:spLocks noGrp="1"/>
          </p:cNvSpPr>
          <p:nvPr>
            <p:ph type="dt" sz="half" idx="10"/>
          </p:nvPr>
        </p:nvSpPr>
        <p:spPr>
          <a:xfrm>
            <a:off x="1057276" y="9306717"/>
            <a:ext cx="1217614" cy="547688"/>
          </a:xfrm>
        </p:spPr>
        <p:txBody>
          <a:bodyPr anchor="ctr">
            <a:normAutofit/>
          </a:bodyPr>
          <a:lstStyle/>
          <a:p>
            <a:pPr>
              <a:spcAft>
                <a:spcPts val="600"/>
              </a:spcAft>
            </a:pPr>
            <a:fld id="{EEB9FFE0-59FF-4E33-9CF1-FBB947891542}" type="datetime1">
              <a:rPr lang="en-US" smtClean="0"/>
              <a:pPr>
                <a:spcAft>
                  <a:spcPts val="600"/>
                </a:spcAft>
              </a:pPr>
              <a:t>11/7/2024</a:t>
            </a:fld>
            <a:endParaRPr lang="nl-BE"/>
          </a:p>
        </p:txBody>
      </p:sp>
      <p:sp>
        <p:nvSpPr>
          <p:cNvPr id="6" name="Footer Placeholder 5">
            <a:extLst>
              <a:ext uri="{FF2B5EF4-FFF2-40B4-BE49-F238E27FC236}">
                <a16:creationId xmlns:a16="http://schemas.microsoft.com/office/drawing/2014/main" id="{DBF13D9B-8468-A675-53D9-4F4AD273D390}"/>
              </a:ext>
            </a:extLst>
          </p:cNvPr>
          <p:cNvSpPr>
            <a:spLocks noGrp="1"/>
          </p:cNvSpPr>
          <p:nvPr>
            <p:ph type="ftr" sz="quarter" idx="11"/>
          </p:nvPr>
        </p:nvSpPr>
        <p:spPr>
          <a:xfrm>
            <a:off x="2274889" y="9306717"/>
            <a:ext cx="6172200" cy="547688"/>
          </a:xfrm>
        </p:spPr>
        <p:txBody>
          <a:bodyPr anchor="ctr">
            <a:normAutofit/>
          </a:bodyPr>
          <a:lstStyle/>
          <a:p>
            <a:pPr>
              <a:spcAft>
                <a:spcPts val="600"/>
              </a:spcAft>
            </a:pPr>
            <a:r>
              <a:rPr lang="en-US" dirty="0"/>
              <a:t>Virtual </a:t>
            </a:r>
            <a:r>
              <a:rPr lang="en-US" dirty="0" err="1"/>
              <a:t>GlobeTrotter</a:t>
            </a:r>
            <a:r>
              <a:rPr lang="en-US" dirty="0"/>
              <a:t> Team Project 2CTAI</a:t>
            </a:r>
            <a:endParaRPr lang="nl-BE"/>
          </a:p>
        </p:txBody>
      </p:sp>
      <p:sp>
        <p:nvSpPr>
          <p:cNvPr id="3" name="Slide Number Placeholder 2">
            <a:extLst>
              <a:ext uri="{FF2B5EF4-FFF2-40B4-BE49-F238E27FC236}">
                <a16:creationId xmlns:a16="http://schemas.microsoft.com/office/drawing/2014/main" id="{BDFF4D37-BD91-624E-CA0D-103FBD330207}"/>
              </a:ext>
            </a:extLst>
          </p:cNvPr>
          <p:cNvSpPr>
            <a:spLocks noGrp="1"/>
          </p:cNvSpPr>
          <p:nvPr>
            <p:ph type="sldNum" sz="quarter" idx="12"/>
          </p:nvPr>
        </p:nvSpPr>
        <p:spPr>
          <a:xfrm>
            <a:off x="14543315" y="9306717"/>
            <a:ext cx="1001264" cy="547688"/>
          </a:xfrm>
        </p:spPr>
        <p:txBody>
          <a:bodyPr anchor="ctr">
            <a:normAutofit/>
          </a:bodyPr>
          <a:lstStyle/>
          <a:p>
            <a:pPr>
              <a:spcAft>
                <a:spcPts val="600"/>
              </a:spcAft>
            </a:pPr>
            <a:fld id="{B7527A74-2D87-4307-9531-5A57D9647EEB}" type="slidenum">
              <a:rPr lang="nl-BE" smtClean="0"/>
              <a:pPr>
                <a:spcAft>
                  <a:spcPts val="600"/>
                </a:spcAft>
              </a:pPr>
              <a:t>5</a:t>
            </a:fld>
            <a:endParaRPr lang="nl-BE"/>
          </a:p>
        </p:txBody>
      </p:sp>
      <p:pic>
        <p:nvPicPr>
          <p:cNvPr id="13" name="Picture 12">
            <a:extLst>
              <a:ext uri="{FF2B5EF4-FFF2-40B4-BE49-F238E27FC236}">
                <a16:creationId xmlns:a16="http://schemas.microsoft.com/office/drawing/2014/main" id="{4CE7D9E2-F6D5-BA1F-BC36-4D66B7D8E320}"/>
              </a:ext>
            </a:extLst>
          </p:cNvPr>
          <p:cNvPicPr>
            <a:picLocks noChangeAspect="1"/>
          </p:cNvPicPr>
          <p:nvPr/>
        </p:nvPicPr>
        <p:blipFill>
          <a:blip r:embed="rId2"/>
          <a:stretch>
            <a:fillRect/>
          </a:stretch>
        </p:blipFill>
        <p:spPr>
          <a:xfrm>
            <a:off x="3500617" y="1648800"/>
            <a:ext cx="11286765" cy="7505700"/>
          </a:xfrm>
          <a:prstGeom prst="rect">
            <a:avLst/>
          </a:prstGeom>
          <a:noFill/>
        </p:spPr>
      </p:pic>
    </p:spTree>
    <p:extLst>
      <p:ext uri="{BB962C8B-B14F-4D97-AF65-F5344CB8AC3E}">
        <p14:creationId xmlns:p14="http://schemas.microsoft.com/office/powerpoint/2010/main" val="1459072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FF185-3CF4-3768-12C1-8294C676530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7163D0A-8E68-1F55-BC9C-E06012637FC2}"/>
              </a:ext>
            </a:extLst>
          </p:cNvPr>
          <p:cNvSpPr>
            <a:spLocks noGrp="1"/>
          </p:cNvSpPr>
          <p:nvPr>
            <p:ph type="body" sz="quarter" idx="17"/>
          </p:nvPr>
        </p:nvSpPr>
        <p:spPr>
          <a:xfrm>
            <a:off x="1050131" y="2354401"/>
            <a:ext cx="16575629" cy="6952316"/>
          </a:xfrm>
        </p:spPr>
        <p:txBody>
          <a:bodyPr/>
          <a:lstStyle/>
          <a:p>
            <a:r>
              <a:rPr lang="en-US" sz="2400" dirty="0">
                <a:solidFill>
                  <a:srgbClr val="FF0000"/>
                </a:solidFill>
              </a:rPr>
              <a:t>To update Thursday 07/11</a:t>
            </a:r>
          </a:p>
        </p:txBody>
      </p:sp>
      <p:sp>
        <p:nvSpPr>
          <p:cNvPr id="3" name="Slide Number Placeholder 2">
            <a:extLst>
              <a:ext uri="{FF2B5EF4-FFF2-40B4-BE49-F238E27FC236}">
                <a16:creationId xmlns:a16="http://schemas.microsoft.com/office/drawing/2014/main" id="{DD6F1887-C342-9BED-7C11-24847A4B7DF7}"/>
              </a:ext>
            </a:extLst>
          </p:cNvPr>
          <p:cNvSpPr>
            <a:spLocks noGrp="1"/>
          </p:cNvSpPr>
          <p:nvPr>
            <p:ph type="sldNum" sz="quarter" idx="12"/>
          </p:nvPr>
        </p:nvSpPr>
        <p:spPr/>
        <p:txBody>
          <a:bodyPr/>
          <a:lstStyle/>
          <a:p>
            <a:fld id="{B7527A74-2D87-4307-9531-5A57D9647EEB}" type="slidenum">
              <a:rPr lang="nl-BE" smtClean="0"/>
              <a:pPr/>
              <a:t>6</a:t>
            </a:fld>
            <a:endParaRPr lang="nl-BE"/>
          </a:p>
        </p:txBody>
      </p:sp>
      <p:sp>
        <p:nvSpPr>
          <p:cNvPr id="4" name="Title 3">
            <a:extLst>
              <a:ext uri="{FF2B5EF4-FFF2-40B4-BE49-F238E27FC236}">
                <a16:creationId xmlns:a16="http://schemas.microsoft.com/office/drawing/2014/main" id="{340D95ED-4063-FD34-D1B6-E8F012F1DBDD}"/>
              </a:ext>
            </a:extLst>
          </p:cNvPr>
          <p:cNvSpPr>
            <a:spLocks noGrp="1"/>
          </p:cNvSpPr>
          <p:nvPr>
            <p:ph type="title"/>
          </p:nvPr>
        </p:nvSpPr>
        <p:spPr/>
        <p:txBody>
          <a:bodyPr/>
          <a:lstStyle/>
          <a:p>
            <a:pPr algn="l">
              <a:spcBef>
                <a:spcPts val="900"/>
              </a:spcBef>
              <a:spcAft>
                <a:spcPts val="900"/>
              </a:spcAft>
            </a:pPr>
            <a:r>
              <a:rPr lang="nl-BE" dirty="0"/>
              <a:t>Technical solution </a:t>
            </a:r>
            <a:br>
              <a:rPr lang="nl-BE" dirty="0"/>
            </a:br>
            <a:r>
              <a:rPr lang="nl-BE" dirty="0"/>
              <a:t>Diagram</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011A2BF6-4B78-F5AB-17A6-ED857BC68F8C}"/>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C5B17DDF-044A-8B5D-DDD1-25BC89D5278F}"/>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pic>
        <p:nvPicPr>
          <p:cNvPr id="8" name="Picture 7">
            <a:extLst>
              <a:ext uri="{FF2B5EF4-FFF2-40B4-BE49-F238E27FC236}">
                <a16:creationId xmlns:a16="http://schemas.microsoft.com/office/drawing/2014/main" id="{B82A413C-65DD-A712-90B3-BDF1792E9760}"/>
              </a:ext>
            </a:extLst>
          </p:cNvPr>
          <p:cNvPicPr>
            <a:picLocks noChangeAspect="1"/>
          </p:cNvPicPr>
          <p:nvPr/>
        </p:nvPicPr>
        <p:blipFill>
          <a:blip r:embed="rId2"/>
          <a:stretch>
            <a:fillRect/>
          </a:stretch>
        </p:blipFill>
        <p:spPr>
          <a:xfrm>
            <a:off x="6154648" y="127462"/>
            <a:ext cx="11076076" cy="9179255"/>
          </a:xfrm>
          <a:prstGeom prst="rect">
            <a:avLst/>
          </a:prstGeom>
        </p:spPr>
      </p:pic>
    </p:spTree>
    <p:extLst>
      <p:ext uri="{BB962C8B-B14F-4D97-AF65-F5344CB8AC3E}">
        <p14:creationId xmlns:p14="http://schemas.microsoft.com/office/powerpoint/2010/main" val="3881297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A39AB-9EF4-F998-A587-39D670A3A4D3}"/>
            </a:ext>
          </a:extLst>
        </p:cNvPr>
        <p:cNvGrpSpPr/>
        <p:nvPr/>
      </p:nvGrpSpPr>
      <p:grpSpPr>
        <a:xfrm>
          <a:off x="0" y="0"/>
          <a:ext cx="0" cy="0"/>
          <a:chOff x="0" y="0"/>
          <a:chExt cx="0" cy="0"/>
        </a:xfrm>
      </p:grpSpPr>
      <p:pic>
        <p:nvPicPr>
          <p:cNvPr id="7" name="Picture 6" descr="A building with lights on&#10;&#10;Description automatically generated">
            <a:extLst>
              <a:ext uri="{FF2B5EF4-FFF2-40B4-BE49-F238E27FC236}">
                <a16:creationId xmlns:a16="http://schemas.microsoft.com/office/drawing/2014/main" id="{81723580-60CB-5074-7765-0E8098461838}"/>
              </a:ext>
            </a:extLst>
          </p:cNvPr>
          <p:cNvPicPr>
            <a:picLocks noChangeAspect="1"/>
          </p:cNvPicPr>
          <p:nvPr/>
        </p:nvPicPr>
        <p:blipFill>
          <a:blip r:embed="rId2">
            <a:extLst>
              <a:ext uri="{28A0092B-C50C-407E-A947-70E740481C1C}">
                <a14:useLocalDpi xmlns:a14="http://schemas.microsoft.com/office/drawing/2010/main" val="0"/>
              </a:ext>
            </a:extLst>
          </a:blip>
          <a:srcRect l="80526"/>
          <a:stretch/>
        </p:blipFill>
        <p:spPr>
          <a:xfrm>
            <a:off x="10184049" y="1648800"/>
            <a:ext cx="6637816" cy="7498800"/>
          </a:xfrm>
          <a:prstGeom prst="rect">
            <a:avLst/>
          </a:prstGeom>
          <a:noFill/>
        </p:spPr>
      </p:pic>
      <p:sp>
        <p:nvSpPr>
          <p:cNvPr id="2" name="Text Placeholder 1">
            <a:extLst>
              <a:ext uri="{FF2B5EF4-FFF2-40B4-BE49-F238E27FC236}">
                <a16:creationId xmlns:a16="http://schemas.microsoft.com/office/drawing/2014/main" id="{69B3C26B-BB41-D4AF-75E7-72C56A46A863}"/>
              </a:ext>
            </a:extLst>
          </p:cNvPr>
          <p:cNvSpPr>
            <a:spLocks noGrp="1"/>
          </p:cNvSpPr>
          <p:nvPr>
            <p:ph type="body" sz="quarter" idx="17"/>
          </p:nvPr>
        </p:nvSpPr>
        <p:spPr>
          <a:xfrm>
            <a:off x="1050131" y="2354401"/>
            <a:ext cx="8217535" cy="6111506"/>
          </a:xfrm>
        </p:spPr>
        <p:txBody>
          <a:bodyPr>
            <a:normAutofit/>
          </a:bodyPr>
          <a:lstStyle/>
          <a:p>
            <a:endParaRPr lang="en-BE" b="0" i="0" u="none" strike="noStrike" baseline="0"/>
          </a:p>
          <a:p>
            <a:r>
              <a:rPr lang="en-GB" b="1" i="0" u="none" strike="noStrike" baseline="0"/>
              <a:t>User Interface</a:t>
            </a:r>
            <a:r>
              <a:rPr lang="en-GB" b="0" i="0" u="none" strike="noStrike" baseline="0"/>
              <a:t>: The focus will be on creating a user-friendly interface that is accessible and enjoyable for children of different ages and abilities. </a:t>
            </a:r>
          </a:p>
          <a:p>
            <a:endParaRPr lang="en-US"/>
          </a:p>
        </p:txBody>
      </p:sp>
      <p:sp>
        <p:nvSpPr>
          <p:cNvPr id="3" name="Slide Number Placeholder 2">
            <a:extLst>
              <a:ext uri="{FF2B5EF4-FFF2-40B4-BE49-F238E27FC236}">
                <a16:creationId xmlns:a16="http://schemas.microsoft.com/office/drawing/2014/main" id="{9E95335C-B74D-2DFA-B7D1-41E3677E3584}"/>
              </a:ext>
            </a:extLst>
          </p:cNvPr>
          <p:cNvSpPr>
            <a:spLocks noGrp="1"/>
          </p:cNvSpPr>
          <p:nvPr>
            <p:ph type="sldNum" sz="quarter" idx="12"/>
          </p:nvPr>
        </p:nvSpPr>
        <p:spPr>
          <a:xfrm>
            <a:off x="14543315" y="9306717"/>
            <a:ext cx="1001264" cy="547688"/>
          </a:xfrm>
        </p:spPr>
        <p:txBody>
          <a:bodyPr anchor="ctr">
            <a:normAutofit/>
          </a:bodyPr>
          <a:lstStyle/>
          <a:p>
            <a:pPr>
              <a:spcAft>
                <a:spcPts val="600"/>
              </a:spcAft>
            </a:pPr>
            <a:fld id="{B7527A74-2D87-4307-9531-5A57D9647EEB}" type="slidenum">
              <a:rPr lang="nl-BE" smtClean="0"/>
              <a:pPr>
                <a:spcAft>
                  <a:spcPts val="600"/>
                </a:spcAft>
              </a:pPr>
              <a:t>7</a:t>
            </a:fld>
            <a:endParaRPr lang="nl-BE"/>
          </a:p>
        </p:txBody>
      </p:sp>
      <p:sp>
        <p:nvSpPr>
          <p:cNvPr id="4" name="Title 3">
            <a:extLst>
              <a:ext uri="{FF2B5EF4-FFF2-40B4-BE49-F238E27FC236}">
                <a16:creationId xmlns:a16="http://schemas.microsoft.com/office/drawing/2014/main" id="{FADE4AF2-3D26-6264-8517-963BF9C34C15}"/>
              </a:ext>
            </a:extLst>
          </p:cNvPr>
          <p:cNvSpPr>
            <a:spLocks noGrp="1"/>
          </p:cNvSpPr>
          <p:nvPr>
            <p:ph type="title"/>
          </p:nvPr>
        </p:nvSpPr>
        <p:spPr>
          <a:xfrm>
            <a:off x="998692" y="888883"/>
            <a:ext cx="16575629" cy="630355"/>
          </a:xfrm>
        </p:spPr>
        <p:txBody>
          <a:bodyPr anchor="t">
            <a:normAutofit/>
          </a:bodyPr>
          <a:lstStyle/>
          <a:p>
            <a:pPr>
              <a:spcBef>
                <a:spcPts val="900"/>
              </a:spcBef>
              <a:spcAft>
                <a:spcPts val="900"/>
              </a:spcAft>
            </a:pPr>
            <a:r>
              <a:rPr lang="nl-BE" dirty="0"/>
              <a:t>Technical solution UI </a:t>
            </a:r>
            <a:endParaRPr lang="en-GB" b="0" i="0" dirty="0">
              <a:effectLst/>
            </a:endParaRPr>
          </a:p>
        </p:txBody>
      </p:sp>
      <p:sp>
        <p:nvSpPr>
          <p:cNvPr id="5" name="Date Placeholder 4">
            <a:extLst>
              <a:ext uri="{FF2B5EF4-FFF2-40B4-BE49-F238E27FC236}">
                <a16:creationId xmlns:a16="http://schemas.microsoft.com/office/drawing/2014/main" id="{B0A6D2B5-ADD8-E7E8-18EC-C72E184D19AB}"/>
              </a:ext>
            </a:extLst>
          </p:cNvPr>
          <p:cNvSpPr>
            <a:spLocks noGrp="1"/>
          </p:cNvSpPr>
          <p:nvPr>
            <p:ph type="dt" sz="half" idx="10"/>
          </p:nvPr>
        </p:nvSpPr>
        <p:spPr>
          <a:xfrm>
            <a:off x="1057276" y="9306717"/>
            <a:ext cx="1217614" cy="547688"/>
          </a:xfrm>
        </p:spPr>
        <p:txBody>
          <a:bodyPr anchor="ctr">
            <a:normAutofit/>
          </a:bodyPr>
          <a:lstStyle/>
          <a:p>
            <a:pPr>
              <a:spcAft>
                <a:spcPts val="600"/>
              </a:spcAft>
            </a:pPr>
            <a:fld id="{EEB9FFE0-59FF-4E33-9CF1-FBB947891542}" type="datetime1">
              <a:rPr lang="en-US" smtClean="0"/>
              <a:pPr>
                <a:spcAft>
                  <a:spcPts val="600"/>
                </a:spcAft>
              </a:pPr>
              <a:t>11/7/2024</a:t>
            </a:fld>
            <a:endParaRPr lang="nl-BE"/>
          </a:p>
        </p:txBody>
      </p:sp>
      <p:sp>
        <p:nvSpPr>
          <p:cNvPr id="6" name="Footer Placeholder 5">
            <a:extLst>
              <a:ext uri="{FF2B5EF4-FFF2-40B4-BE49-F238E27FC236}">
                <a16:creationId xmlns:a16="http://schemas.microsoft.com/office/drawing/2014/main" id="{6357F620-1A3E-0B94-CFAD-63A3C3420EA9}"/>
              </a:ext>
            </a:extLst>
          </p:cNvPr>
          <p:cNvSpPr>
            <a:spLocks noGrp="1"/>
          </p:cNvSpPr>
          <p:nvPr>
            <p:ph type="ftr" sz="quarter" idx="11"/>
          </p:nvPr>
        </p:nvSpPr>
        <p:spPr>
          <a:xfrm>
            <a:off x="2274889" y="9306717"/>
            <a:ext cx="6172200" cy="547688"/>
          </a:xfrm>
        </p:spPr>
        <p:txBody>
          <a:bodyPr anchor="ctr">
            <a:normAutofit/>
          </a:bodyPr>
          <a:lstStyle/>
          <a:p>
            <a:pPr>
              <a:spcAft>
                <a:spcPts val="600"/>
              </a:spcAft>
            </a:pPr>
            <a:r>
              <a:rPr lang="en-US" dirty="0"/>
              <a:t>Virtual </a:t>
            </a:r>
            <a:r>
              <a:rPr lang="en-US" dirty="0" err="1"/>
              <a:t>GlobeTrotter</a:t>
            </a:r>
            <a:r>
              <a:rPr lang="en-US" dirty="0"/>
              <a:t> Team Project 2CTAI</a:t>
            </a:r>
            <a:endParaRPr lang="nl-BE"/>
          </a:p>
        </p:txBody>
      </p:sp>
    </p:spTree>
    <p:extLst>
      <p:ext uri="{BB962C8B-B14F-4D97-AF65-F5344CB8AC3E}">
        <p14:creationId xmlns:p14="http://schemas.microsoft.com/office/powerpoint/2010/main" val="3396003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B6A66-2547-F2B9-9F69-7C997A7BEFC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E5D9450-2ED3-8801-1166-89B22FDB21E6}"/>
              </a:ext>
            </a:extLst>
          </p:cNvPr>
          <p:cNvSpPr>
            <a:spLocks noGrp="1"/>
          </p:cNvSpPr>
          <p:nvPr>
            <p:ph type="body" sz="quarter" idx="17"/>
          </p:nvPr>
        </p:nvSpPr>
        <p:spPr>
          <a:xfrm>
            <a:off x="1057276" y="2323921"/>
            <a:ext cx="8217535" cy="6111506"/>
          </a:xfrm>
        </p:spPr>
        <p:txBody>
          <a:bodyPr>
            <a:normAutofit/>
          </a:bodyPr>
          <a:lstStyle/>
          <a:p>
            <a:endParaRPr lang="en-BE" b="0" i="0" u="none" strike="noStrike" baseline="0" dirty="0"/>
          </a:p>
          <a:p>
            <a:r>
              <a:rPr lang="en-GB" sz="1800" dirty="0">
                <a:solidFill>
                  <a:srgbClr val="6F2F9F"/>
                </a:solidFill>
                <a:latin typeface="Calibri" panose="020F0502020204030204" pitchFamily="34" charset="0"/>
              </a:rPr>
              <a:t>• Dynamic Environment Adaptation via Speech Input: The environments will dynamically adapt based on the child's spoken input. Speech-to-text technology combined with prompt engineering will ensure that elements in the environment change according to what the child says, making the experience more engaging and interactive. </a:t>
            </a:r>
          </a:p>
          <a:p>
            <a:endParaRPr lang="en-US" dirty="0"/>
          </a:p>
        </p:txBody>
      </p:sp>
      <p:sp>
        <p:nvSpPr>
          <p:cNvPr id="3" name="Slide Number Placeholder 2">
            <a:extLst>
              <a:ext uri="{FF2B5EF4-FFF2-40B4-BE49-F238E27FC236}">
                <a16:creationId xmlns:a16="http://schemas.microsoft.com/office/drawing/2014/main" id="{FDB7A25B-0287-423F-90E8-988277BE176A}"/>
              </a:ext>
            </a:extLst>
          </p:cNvPr>
          <p:cNvSpPr>
            <a:spLocks noGrp="1"/>
          </p:cNvSpPr>
          <p:nvPr>
            <p:ph type="sldNum" sz="quarter" idx="12"/>
          </p:nvPr>
        </p:nvSpPr>
        <p:spPr>
          <a:xfrm>
            <a:off x="14543315" y="9306717"/>
            <a:ext cx="1001264" cy="547688"/>
          </a:xfrm>
        </p:spPr>
        <p:txBody>
          <a:bodyPr anchor="ctr">
            <a:normAutofit/>
          </a:bodyPr>
          <a:lstStyle/>
          <a:p>
            <a:pPr>
              <a:spcAft>
                <a:spcPts val="600"/>
              </a:spcAft>
            </a:pPr>
            <a:fld id="{B7527A74-2D87-4307-9531-5A57D9647EEB}" type="slidenum">
              <a:rPr lang="nl-BE" smtClean="0"/>
              <a:pPr>
                <a:spcAft>
                  <a:spcPts val="600"/>
                </a:spcAft>
              </a:pPr>
              <a:t>8</a:t>
            </a:fld>
            <a:endParaRPr lang="nl-BE"/>
          </a:p>
        </p:txBody>
      </p:sp>
      <p:sp>
        <p:nvSpPr>
          <p:cNvPr id="4" name="Title 3">
            <a:extLst>
              <a:ext uri="{FF2B5EF4-FFF2-40B4-BE49-F238E27FC236}">
                <a16:creationId xmlns:a16="http://schemas.microsoft.com/office/drawing/2014/main" id="{2219F869-1906-8D9C-BEBD-0C6FAEC2CA50}"/>
              </a:ext>
            </a:extLst>
          </p:cNvPr>
          <p:cNvSpPr>
            <a:spLocks noGrp="1"/>
          </p:cNvSpPr>
          <p:nvPr>
            <p:ph type="title"/>
          </p:nvPr>
        </p:nvSpPr>
        <p:spPr>
          <a:xfrm>
            <a:off x="998692" y="888883"/>
            <a:ext cx="16575629" cy="630355"/>
          </a:xfrm>
        </p:spPr>
        <p:txBody>
          <a:bodyPr anchor="t">
            <a:normAutofit/>
          </a:bodyPr>
          <a:lstStyle/>
          <a:p>
            <a:pPr>
              <a:spcBef>
                <a:spcPts val="900"/>
              </a:spcBef>
              <a:spcAft>
                <a:spcPts val="900"/>
              </a:spcAft>
            </a:pPr>
            <a:r>
              <a:rPr lang="nl-BE" dirty="0"/>
              <a:t>Technical solution Website</a:t>
            </a:r>
            <a:endParaRPr lang="en-GB" b="0" i="0" dirty="0">
              <a:effectLst/>
            </a:endParaRPr>
          </a:p>
        </p:txBody>
      </p:sp>
      <p:sp>
        <p:nvSpPr>
          <p:cNvPr id="5" name="Date Placeholder 4">
            <a:extLst>
              <a:ext uri="{FF2B5EF4-FFF2-40B4-BE49-F238E27FC236}">
                <a16:creationId xmlns:a16="http://schemas.microsoft.com/office/drawing/2014/main" id="{6188A3E1-EBD1-1D03-0B13-F89A5E7D6577}"/>
              </a:ext>
            </a:extLst>
          </p:cNvPr>
          <p:cNvSpPr>
            <a:spLocks noGrp="1"/>
          </p:cNvSpPr>
          <p:nvPr>
            <p:ph type="dt" sz="half" idx="10"/>
          </p:nvPr>
        </p:nvSpPr>
        <p:spPr>
          <a:xfrm>
            <a:off x="1057276" y="9306717"/>
            <a:ext cx="1217614" cy="547688"/>
          </a:xfrm>
        </p:spPr>
        <p:txBody>
          <a:bodyPr anchor="ctr">
            <a:normAutofit/>
          </a:bodyPr>
          <a:lstStyle/>
          <a:p>
            <a:pPr>
              <a:spcAft>
                <a:spcPts val="600"/>
              </a:spcAft>
            </a:pPr>
            <a:fld id="{EEB9FFE0-59FF-4E33-9CF1-FBB947891542}" type="datetime1">
              <a:rPr lang="en-US" smtClean="0"/>
              <a:pPr>
                <a:spcAft>
                  <a:spcPts val="600"/>
                </a:spcAft>
              </a:pPr>
              <a:t>11/7/2024</a:t>
            </a:fld>
            <a:endParaRPr lang="nl-BE"/>
          </a:p>
        </p:txBody>
      </p:sp>
      <p:sp>
        <p:nvSpPr>
          <p:cNvPr id="6" name="Footer Placeholder 5">
            <a:extLst>
              <a:ext uri="{FF2B5EF4-FFF2-40B4-BE49-F238E27FC236}">
                <a16:creationId xmlns:a16="http://schemas.microsoft.com/office/drawing/2014/main" id="{21C01D91-EA49-49FA-EF91-BB7C0B503578}"/>
              </a:ext>
            </a:extLst>
          </p:cNvPr>
          <p:cNvSpPr>
            <a:spLocks noGrp="1"/>
          </p:cNvSpPr>
          <p:nvPr>
            <p:ph type="ftr" sz="quarter" idx="11"/>
          </p:nvPr>
        </p:nvSpPr>
        <p:spPr>
          <a:xfrm>
            <a:off x="2274889" y="9306717"/>
            <a:ext cx="6172200" cy="547688"/>
          </a:xfrm>
        </p:spPr>
        <p:txBody>
          <a:bodyPr anchor="ctr">
            <a:normAutofit/>
          </a:bodyPr>
          <a:lstStyle/>
          <a:p>
            <a:pPr>
              <a:spcAft>
                <a:spcPts val="600"/>
              </a:spcAft>
            </a:pPr>
            <a:r>
              <a:rPr lang="en-US" dirty="0"/>
              <a:t>Virtual </a:t>
            </a:r>
            <a:r>
              <a:rPr lang="en-US" dirty="0" err="1"/>
              <a:t>GlobeTrotter</a:t>
            </a:r>
            <a:r>
              <a:rPr lang="en-US" dirty="0"/>
              <a:t> Team Project 2CTAI</a:t>
            </a:r>
            <a:endParaRPr lang="nl-BE"/>
          </a:p>
        </p:txBody>
      </p:sp>
    </p:spTree>
    <p:extLst>
      <p:ext uri="{BB962C8B-B14F-4D97-AF65-F5344CB8AC3E}">
        <p14:creationId xmlns:p14="http://schemas.microsoft.com/office/powerpoint/2010/main" val="131081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60090-CF74-5F1A-33A4-CD98EE24FA6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A02F548-98C1-9AED-A07F-505B13C5AA94}"/>
              </a:ext>
            </a:extLst>
          </p:cNvPr>
          <p:cNvSpPr>
            <a:spLocks noGrp="1"/>
          </p:cNvSpPr>
          <p:nvPr>
            <p:ph type="body" sz="quarter" idx="17"/>
          </p:nvPr>
        </p:nvSpPr>
        <p:spPr>
          <a:xfrm>
            <a:off x="1050131" y="2354401"/>
            <a:ext cx="16575629" cy="6952316"/>
          </a:xfrm>
        </p:spPr>
        <p:txBody>
          <a:bodyPr/>
          <a:lstStyle/>
          <a:p>
            <a:endParaRPr lang="en-US" sz="2400" dirty="0"/>
          </a:p>
        </p:txBody>
      </p:sp>
      <p:sp>
        <p:nvSpPr>
          <p:cNvPr id="3" name="Slide Number Placeholder 2">
            <a:extLst>
              <a:ext uri="{FF2B5EF4-FFF2-40B4-BE49-F238E27FC236}">
                <a16:creationId xmlns:a16="http://schemas.microsoft.com/office/drawing/2014/main" id="{691D9328-45FA-B100-01F5-E9A959DD3EF9}"/>
              </a:ext>
            </a:extLst>
          </p:cNvPr>
          <p:cNvSpPr>
            <a:spLocks noGrp="1"/>
          </p:cNvSpPr>
          <p:nvPr>
            <p:ph type="sldNum" sz="quarter" idx="12"/>
          </p:nvPr>
        </p:nvSpPr>
        <p:spPr/>
        <p:txBody>
          <a:bodyPr/>
          <a:lstStyle/>
          <a:p>
            <a:fld id="{B7527A74-2D87-4307-9531-5A57D9647EEB}" type="slidenum">
              <a:rPr lang="nl-BE" smtClean="0"/>
              <a:pPr/>
              <a:t>9</a:t>
            </a:fld>
            <a:endParaRPr lang="nl-BE"/>
          </a:p>
        </p:txBody>
      </p:sp>
      <p:sp>
        <p:nvSpPr>
          <p:cNvPr id="4" name="Title 3">
            <a:extLst>
              <a:ext uri="{FF2B5EF4-FFF2-40B4-BE49-F238E27FC236}">
                <a16:creationId xmlns:a16="http://schemas.microsoft.com/office/drawing/2014/main" id="{88E840FC-A6D3-BB96-1E04-1D5261407EF1}"/>
              </a:ext>
            </a:extLst>
          </p:cNvPr>
          <p:cNvSpPr>
            <a:spLocks noGrp="1"/>
          </p:cNvSpPr>
          <p:nvPr>
            <p:ph type="title"/>
          </p:nvPr>
        </p:nvSpPr>
        <p:spPr/>
        <p:txBody>
          <a:bodyPr/>
          <a:lstStyle/>
          <a:p>
            <a:pPr algn="l">
              <a:spcBef>
                <a:spcPts val="900"/>
              </a:spcBef>
              <a:spcAft>
                <a:spcPts val="900"/>
              </a:spcAft>
            </a:pPr>
            <a:r>
              <a:rPr lang="nl-BE" dirty="0"/>
              <a:t>Technical solution Database</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2543660B-4F4B-B800-3466-38B38D909BA5}"/>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0A69893E-1264-A110-B4E1-672A8295BECE}"/>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pic>
        <p:nvPicPr>
          <p:cNvPr id="8" name="Picture 7">
            <a:extLst>
              <a:ext uri="{FF2B5EF4-FFF2-40B4-BE49-F238E27FC236}">
                <a16:creationId xmlns:a16="http://schemas.microsoft.com/office/drawing/2014/main" id="{DF7F0AA2-4954-3786-3D78-FAD710F3B1B2}"/>
              </a:ext>
            </a:extLst>
          </p:cNvPr>
          <p:cNvPicPr>
            <a:picLocks noChangeAspect="1"/>
          </p:cNvPicPr>
          <p:nvPr/>
        </p:nvPicPr>
        <p:blipFill>
          <a:blip r:embed="rId2"/>
          <a:stretch>
            <a:fillRect/>
          </a:stretch>
        </p:blipFill>
        <p:spPr>
          <a:xfrm>
            <a:off x="8645295" y="5086606"/>
            <a:ext cx="8782258" cy="3721830"/>
          </a:xfrm>
          <a:prstGeom prst="rect">
            <a:avLst/>
          </a:prstGeom>
        </p:spPr>
      </p:pic>
      <p:pic>
        <p:nvPicPr>
          <p:cNvPr id="7" name="Picture 6" descr="A building with lights on">
            <a:extLst>
              <a:ext uri="{FF2B5EF4-FFF2-40B4-BE49-F238E27FC236}">
                <a16:creationId xmlns:a16="http://schemas.microsoft.com/office/drawing/2014/main" id="{3CF45B91-5BDA-CC67-2CEE-E1A07A51CC42}"/>
              </a:ext>
            </a:extLst>
          </p:cNvPr>
          <p:cNvPicPr>
            <a:picLocks noChangeAspect="1"/>
          </p:cNvPicPr>
          <p:nvPr/>
        </p:nvPicPr>
        <p:blipFill>
          <a:blip r:embed="rId3">
            <a:extLst>
              <a:ext uri="{28A0092B-C50C-407E-A947-70E740481C1C}">
                <a14:useLocalDpi xmlns:a14="http://schemas.microsoft.com/office/drawing/2010/main" val="0"/>
              </a:ext>
            </a:extLst>
          </a:blip>
          <a:srcRect l="46693" r="29199"/>
          <a:stretch/>
        </p:blipFill>
        <p:spPr>
          <a:xfrm>
            <a:off x="229554" y="1663538"/>
            <a:ext cx="8217535" cy="7498800"/>
          </a:xfrm>
          <a:prstGeom prst="rect">
            <a:avLst/>
          </a:prstGeom>
          <a:noFill/>
        </p:spPr>
      </p:pic>
    </p:spTree>
    <p:extLst>
      <p:ext uri="{BB962C8B-B14F-4D97-AF65-F5344CB8AC3E}">
        <p14:creationId xmlns:p14="http://schemas.microsoft.com/office/powerpoint/2010/main" val="1429863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00B0B-FFA2-C929-F25F-C14B8D6B1F6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3A38C74-95C4-1E3A-8050-7CFB9044B864}"/>
              </a:ext>
            </a:extLst>
          </p:cNvPr>
          <p:cNvSpPr>
            <a:spLocks noGrp="1"/>
          </p:cNvSpPr>
          <p:nvPr>
            <p:ph type="body" sz="quarter" idx="17"/>
          </p:nvPr>
        </p:nvSpPr>
        <p:spPr>
          <a:xfrm>
            <a:off x="1050131" y="2354401"/>
            <a:ext cx="16575629" cy="6952316"/>
          </a:xfrm>
        </p:spPr>
        <p:txBody>
          <a:bodyPr/>
          <a:lstStyle/>
          <a:p>
            <a:pPr algn="l"/>
            <a:endParaRPr lang="en-BE" sz="1800" b="0" i="0" u="none" strike="noStrike" baseline="0" dirty="0">
              <a:solidFill>
                <a:srgbClr val="000000"/>
              </a:solidFill>
              <a:latin typeface="Calibri" panose="020F0502020204030204" pitchFamily="34" charset="0"/>
            </a:endParaRPr>
          </a:p>
          <a:p>
            <a:r>
              <a:rPr lang="en-GB" sz="1800" b="1" i="0" u="none" strike="noStrike" baseline="0" dirty="0">
                <a:solidFill>
                  <a:srgbClr val="6F2F9F"/>
                </a:solidFill>
                <a:latin typeface="Calibri" panose="020F0502020204030204" pitchFamily="34" charset="0"/>
              </a:rPr>
              <a:t>AI-Generated Environments</a:t>
            </a:r>
            <a:r>
              <a:rPr lang="en-GB" sz="1800" b="0" i="0" u="none" strike="noStrike" baseline="0" dirty="0">
                <a:solidFill>
                  <a:srgbClr val="6F2F9F"/>
                </a:solidFill>
                <a:latin typeface="Calibri" panose="020F0502020204030204" pitchFamily="34" charset="0"/>
              </a:rPr>
              <a:t>: The chosen locations will be brought to life with AI-generated 360-degree images and videos, offering immersive experiences such as nature (forests, snow-covered landscapes) or cities (Paris, Amsterdam, etc.). </a:t>
            </a:r>
          </a:p>
          <a:p>
            <a:endParaRPr lang="en-US" sz="2400" dirty="0"/>
          </a:p>
          <a:p>
            <a:endParaRPr lang="en-US" sz="2400" dirty="0"/>
          </a:p>
          <a:p>
            <a:pPr algn="l"/>
            <a:r>
              <a:rPr lang="en-GB" sz="1800" dirty="0">
                <a:solidFill>
                  <a:srgbClr val="FF0000"/>
                </a:solidFill>
                <a:latin typeface="Calibri" panose="020F0502020204030204" pitchFamily="34" charset="0"/>
              </a:rPr>
              <a:t>No real time music generation? </a:t>
            </a:r>
            <a:endParaRPr lang="en-BE" sz="1800" b="0" i="0" u="none" strike="noStrike" baseline="0" dirty="0">
              <a:solidFill>
                <a:srgbClr val="FF0000"/>
              </a:solidFill>
              <a:latin typeface="Calibri" panose="020F0502020204030204" pitchFamily="34" charset="0"/>
            </a:endParaRPr>
          </a:p>
          <a:p>
            <a:r>
              <a:rPr lang="en-GB" sz="1800" b="1" i="0" u="none" strike="noStrike" baseline="0" dirty="0">
                <a:solidFill>
                  <a:srgbClr val="FF0000"/>
                </a:solidFill>
                <a:latin typeface="Calibri" panose="020F0502020204030204" pitchFamily="34" charset="0"/>
              </a:rPr>
              <a:t>Real-time Music Generation</a:t>
            </a:r>
            <a:r>
              <a:rPr lang="en-GB" sz="1800" b="0" i="0" u="none" strike="noStrike" baseline="0" dirty="0">
                <a:solidFill>
                  <a:srgbClr val="FF0000"/>
                </a:solidFill>
                <a:latin typeface="Calibri" panose="020F0502020204030204" pitchFamily="34" charset="0"/>
              </a:rPr>
              <a:t>: Background music will be generated in real-time and tailored to match the location and the interactions of the child, adding to the immersive atmosphere. </a:t>
            </a:r>
          </a:p>
          <a:p>
            <a:r>
              <a:rPr lang="en-US" sz="2400" dirty="0"/>
              <a:t>Music? Copyrights? </a:t>
            </a:r>
          </a:p>
        </p:txBody>
      </p:sp>
      <p:sp>
        <p:nvSpPr>
          <p:cNvPr id="3" name="Slide Number Placeholder 2">
            <a:extLst>
              <a:ext uri="{FF2B5EF4-FFF2-40B4-BE49-F238E27FC236}">
                <a16:creationId xmlns:a16="http://schemas.microsoft.com/office/drawing/2014/main" id="{D1DA3D58-6175-B473-8503-B725618396CD}"/>
              </a:ext>
            </a:extLst>
          </p:cNvPr>
          <p:cNvSpPr>
            <a:spLocks noGrp="1"/>
          </p:cNvSpPr>
          <p:nvPr>
            <p:ph type="sldNum" sz="quarter" idx="12"/>
          </p:nvPr>
        </p:nvSpPr>
        <p:spPr/>
        <p:txBody>
          <a:bodyPr/>
          <a:lstStyle/>
          <a:p>
            <a:fld id="{B7527A74-2D87-4307-9531-5A57D9647EEB}" type="slidenum">
              <a:rPr lang="nl-BE" smtClean="0"/>
              <a:pPr/>
              <a:t>10</a:t>
            </a:fld>
            <a:endParaRPr lang="nl-BE"/>
          </a:p>
        </p:txBody>
      </p:sp>
      <p:sp>
        <p:nvSpPr>
          <p:cNvPr id="4" name="Title 3">
            <a:extLst>
              <a:ext uri="{FF2B5EF4-FFF2-40B4-BE49-F238E27FC236}">
                <a16:creationId xmlns:a16="http://schemas.microsoft.com/office/drawing/2014/main" id="{6B63EF4E-A646-1E57-AF86-26DACA43721B}"/>
              </a:ext>
            </a:extLst>
          </p:cNvPr>
          <p:cNvSpPr>
            <a:spLocks noGrp="1"/>
          </p:cNvSpPr>
          <p:nvPr>
            <p:ph type="title"/>
          </p:nvPr>
        </p:nvSpPr>
        <p:spPr/>
        <p:txBody>
          <a:bodyPr/>
          <a:lstStyle/>
          <a:p>
            <a:pPr algn="l">
              <a:spcBef>
                <a:spcPts val="900"/>
              </a:spcBef>
              <a:spcAft>
                <a:spcPts val="900"/>
              </a:spcAft>
            </a:pPr>
            <a:r>
              <a:rPr lang="nl-BE" dirty="0"/>
              <a:t>Technical solution AI</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527E656B-1659-3C38-98CA-4EDC4034E136}"/>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B59BFD75-C010-6621-59E1-2779DF5BBF4E}"/>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2230606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0A583-EC0A-9B31-DA8F-AE09F00E275F}"/>
            </a:ext>
          </a:extLst>
        </p:cNvPr>
        <p:cNvGrpSpPr/>
        <p:nvPr/>
      </p:nvGrpSpPr>
      <p:grpSpPr>
        <a:xfrm>
          <a:off x="0" y="0"/>
          <a:ext cx="0" cy="0"/>
          <a:chOff x="0" y="0"/>
          <a:chExt cx="0" cy="0"/>
        </a:xfrm>
      </p:grpSpPr>
      <p:pic>
        <p:nvPicPr>
          <p:cNvPr id="8" name="Picture 7" descr="A building with lights on&#10;&#10;Description automatically generated">
            <a:extLst>
              <a:ext uri="{FF2B5EF4-FFF2-40B4-BE49-F238E27FC236}">
                <a16:creationId xmlns:a16="http://schemas.microsoft.com/office/drawing/2014/main" id="{593FC39F-D957-FFA2-5DCD-5277864A3B68}"/>
              </a:ext>
            </a:extLst>
          </p:cNvPr>
          <p:cNvPicPr>
            <a:picLocks noChangeAspect="1"/>
          </p:cNvPicPr>
          <p:nvPr/>
        </p:nvPicPr>
        <p:blipFill>
          <a:blip r:embed="rId2">
            <a:extLst>
              <a:ext uri="{28A0092B-C50C-407E-A947-70E740481C1C}">
                <a14:useLocalDpi xmlns:a14="http://schemas.microsoft.com/office/drawing/2010/main" val="0"/>
              </a:ext>
            </a:extLst>
          </a:blip>
          <a:srcRect l="5840" r="70051"/>
          <a:stretch/>
        </p:blipFill>
        <p:spPr>
          <a:xfrm>
            <a:off x="9394190" y="1648800"/>
            <a:ext cx="8217535" cy="7498800"/>
          </a:xfrm>
          <a:prstGeom prst="rect">
            <a:avLst/>
          </a:prstGeom>
          <a:noFill/>
        </p:spPr>
      </p:pic>
      <p:sp>
        <p:nvSpPr>
          <p:cNvPr id="2" name="Text Placeholder 1">
            <a:extLst>
              <a:ext uri="{FF2B5EF4-FFF2-40B4-BE49-F238E27FC236}">
                <a16:creationId xmlns:a16="http://schemas.microsoft.com/office/drawing/2014/main" id="{8851A269-2420-FF4C-37CD-45F4E4563B28}"/>
              </a:ext>
            </a:extLst>
          </p:cNvPr>
          <p:cNvSpPr>
            <a:spLocks noGrp="1"/>
          </p:cNvSpPr>
          <p:nvPr>
            <p:ph type="body" sz="quarter" idx="17"/>
          </p:nvPr>
        </p:nvSpPr>
        <p:spPr>
          <a:xfrm>
            <a:off x="1050131" y="2354401"/>
            <a:ext cx="8217535" cy="6111506"/>
          </a:xfrm>
        </p:spPr>
        <p:txBody>
          <a:bodyPr>
            <a:normAutofit/>
          </a:bodyPr>
          <a:lstStyle/>
          <a:p>
            <a:r>
              <a:rPr lang="en-GB" sz="1800" dirty="0">
                <a:solidFill>
                  <a:srgbClr val="6F2F9F"/>
                </a:solidFill>
                <a:latin typeface="Calibri" panose="020F0502020204030204" pitchFamily="34" charset="0"/>
              </a:rPr>
              <a:t>Immersive Room: </a:t>
            </a:r>
          </a:p>
          <a:p>
            <a:r>
              <a:rPr lang="en-GB" sz="1800" dirty="0">
                <a:solidFill>
                  <a:srgbClr val="6F2F9F"/>
                </a:solidFill>
                <a:latin typeface="Calibri" panose="020F0502020204030204" pitchFamily="34" charset="0"/>
              </a:rPr>
              <a:t>• Mobile immersive room (Dome) with 360° projection and audio setup </a:t>
            </a:r>
          </a:p>
          <a:p>
            <a:r>
              <a:rPr lang="en-GB" sz="1800" dirty="0">
                <a:solidFill>
                  <a:srgbClr val="6F2F9F"/>
                </a:solidFill>
                <a:latin typeface="Calibri" panose="020F0502020204030204" pitchFamily="34" charset="0"/>
              </a:rPr>
              <a:t>• Dimensions: 5x5 meters with four large white screens, four 8000-lumen projectors, and sound boxes in each corner. Hardware is positioned next to the immersive room. </a:t>
            </a:r>
          </a:p>
          <a:p>
            <a:r>
              <a:rPr lang="en-GB" sz="1800" dirty="0">
                <a:solidFill>
                  <a:srgbClr val="6F2F9F"/>
                </a:solidFill>
                <a:latin typeface="Calibri" panose="020F0502020204030204" pitchFamily="34" charset="0"/>
              </a:rPr>
              <a:t>• VIVE trackers for motion tracking </a:t>
            </a:r>
          </a:p>
          <a:p>
            <a:r>
              <a:rPr lang="en-GB" sz="1800" dirty="0">
                <a:solidFill>
                  <a:srgbClr val="6F2F9F"/>
                </a:solidFill>
                <a:latin typeface="Calibri" panose="020F0502020204030204" pitchFamily="34" charset="0"/>
              </a:rPr>
              <a:t>• Compatible with Unity, Unreal Engine, and 360-degree videos </a:t>
            </a:r>
          </a:p>
          <a:p>
            <a:endParaRPr lang="en-US" dirty="0"/>
          </a:p>
        </p:txBody>
      </p:sp>
      <p:sp>
        <p:nvSpPr>
          <p:cNvPr id="3" name="Slide Number Placeholder 2">
            <a:extLst>
              <a:ext uri="{FF2B5EF4-FFF2-40B4-BE49-F238E27FC236}">
                <a16:creationId xmlns:a16="http://schemas.microsoft.com/office/drawing/2014/main" id="{D3A675FA-F76A-3900-5821-CEACA27ADE8F}"/>
              </a:ext>
            </a:extLst>
          </p:cNvPr>
          <p:cNvSpPr>
            <a:spLocks noGrp="1"/>
          </p:cNvSpPr>
          <p:nvPr>
            <p:ph type="sldNum" sz="quarter" idx="12"/>
          </p:nvPr>
        </p:nvSpPr>
        <p:spPr>
          <a:xfrm>
            <a:off x="14543315" y="9306717"/>
            <a:ext cx="1001264" cy="547688"/>
          </a:xfrm>
        </p:spPr>
        <p:txBody>
          <a:bodyPr anchor="ctr">
            <a:normAutofit/>
          </a:bodyPr>
          <a:lstStyle/>
          <a:p>
            <a:pPr>
              <a:spcAft>
                <a:spcPts val="600"/>
              </a:spcAft>
            </a:pPr>
            <a:fld id="{B7527A74-2D87-4307-9531-5A57D9647EEB}" type="slidenum">
              <a:rPr lang="nl-BE" smtClean="0"/>
              <a:pPr>
                <a:spcAft>
                  <a:spcPts val="600"/>
                </a:spcAft>
              </a:pPr>
              <a:t>11</a:t>
            </a:fld>
            <a:endParaRPr lang="nl-BE"/>
          </a:p>
        </p:txBody>
      </p:sp>
      <p:sp>
        <p:nvSpPr>
          <p:cNvPr id="4" name="Title 3">
            <a:extLst>
              <a:ext uri="{FF2B5EF4-FFF2-40B4-BE49-F238E27FC236}">
                <a16:creationId xmlns:a16="http://schemas.microsoft.com/office/drawing/2014/main" id="{6F339DB6-756D-FE81-5E82-B025B8E1845A}"/>
              </a:ext>
            </a:extLst>
          </p:cNvPr>
          <p:cNvSpPr>
            <a:spLocks noGrp="1"/>
          </p:cNvSpPr>
          <p:nvPr>
            <p:ph type="title"/>
          </p:nvPr>
        </p:nvSpPr>
        <p:spPr>
          <a:xfrm>
            <a:off x="998692" y="888883"/>
            <a:ext cx="16575629" cy="630355"/>
          </a:xfrm>
        </p:spPr>
        <p:txBody>
          <a:bodyPr anchor="t">
            <a:normAutofit/>
          </a:bodyPr>
          <a:lstStyle/>
          <a:p>
            <a:pPr>
              <a:spcBef>
                <a:spcPts val="900"/>
              </a:spcBef>
              <a:spcAft>
                <a:spcPts val="900"/>
              </a:spcAft>
            </a:pPr>
            <a:r>
              <a:rPr lang="nl-BE" dirty="0"/>
              <a:t>Technical solution </a:t>
            </a:r>
            <a:r>
              <a:rPr lang="nl-BE" dirty="0" err="1"/>
              <a:t>Unity</a:t>
            </a:r>
            <a:endParaRPr lang="en-GB" b="0" i="0" dirty="0">
              <a:effectLst/>
            </a:endParaRPr>
          </a:p>
        </p:txBody>
      </p:sp>
      <p:sp>
        <p:nvSpPr>
          <p:cNvPr id="5" name="Date Placeholder 4">
            <a:extLst>
              <a:ext uri="{FF2B5EF4-FFF2-40B4-BE49-F238E27FC236}">
                <a16:creationId xmlns:a16="http://schemas.microsoft.com/office/drawing/2014/main" id="{42FEC275-7954-A5B7-1B4F-BF8D67588D2C}"/>
              </a:ext>
            </a:extLst>
          </p:cNvPr>
          <p:cNvSpPr>
            <a:spLocks noGrp="1"/>
          </p:cNvSpPr>
          <p:nvPr>
            <p:ph type="dt" sz="half" idx="10"/>
          </p:nvPr>
        </p:nvSpPr>
        <p:spPr>
          <a:xfrm>
            <a:off x="1057276" y="9306717"/>
            <a:ext cx="1217614" cy="547688"/>
          </a:xfrm>
        </p:spPr>
        <p:txBody>
          <a:bodyPr anchor="ctr">
            <a:normAutofit/>
          </a:bodyPr>
          <a:lstStyle/>
          <a:p>
            <a:pPr>
              <a:spcAft>
                <a:spcPts val="600"/>
              </a:spcAft>
            </a:pPr>
            <a:fld id="{EEB9FFE0-59FF-4E33-9CF1-FBB947891542}" type="datetime1">
              <a:rPr lang="en-US" smtClean="0"/>
              <a:pPr>
                <a:spcAft>
                  <a:spcPts val="600"/>
                </a:spcAft>
              </a:pPr>
              <a:t>11/7/2024</a:t>
            </a:fld>
            <a:endParaRPr lang="nl-BE"/>
          </a:p>
        </p:txBody>
      </p:sp>
      <p:sp>
        <p:nvSpPr>
          <p:cNvPr id="6" name="Footer Placeholder 5">
            <a:extLst>
              <a:ext uri="{FF2B5EF4-FFF2-40B4-BE49-F238E27FC236}">
                <a16:creationId xmlns:a16="http://schemas.microsoft.com/office/drawing/2014/main" id="{A3AED309-BA1D-656A-F0C4-1B46FE485F7A}"/>
              </a:ext>
            </a:extLst>
          </p:cNvPr>
          <p:cNvSpPr>
            <a:spLocks noGrp="1"/>
          </p:cNvSpPr>
          <p:nvPr>
            <p:ph type="ftr" sz="quarter" idx="11"/>
          </p:nvPr>
        </p:nvSpPr>
        <p:spPr>
          <a:xfrm>
            <a:off x="2274889" y="9306717"/>
            <a:ext cx="6172200" cy="547688"/>
          </a:xfrm>
        </p:spPr>
        <p:txBody>
          <a:bodyPr anchor="ctr">
            <a:normAutofit/>
          </a:bodyPr>
          <a:lstStyle/>
          <a:p>
            <a:pPr>
              <a:spcAft>
                <a:spcPts val="600"/>
              </a:spcAft>
            </a:pPr>
            <a:r>
              <a:rPr lang="en-US" dirty="0"/>
              <a:t>Virtual </a:t>
            </a:r>
            <a:r>
              <a:rPr lang="en-US" dirty="0" err="1"/>
              <a:t>GlobeTrotter</a:t>
            </a:r>
            <a:r>
              <a:rPr lang="en-US" dirty="0"/>
              <a:t> Team Project 2CTAI</a:t>
            </a:r>
            <a:endParaRPr lang="nl-BE"/>
          </a:p>
        </p:txBody>
      </p:sp>
    </p:spTree>
    <p:extLst>
      <p:ext uri="{BB962C8B-B14F-4D97-AF65-F5344CB8AC3E}">
        <p14:creationId xmlns:p14="http://schemas.microsoft.com/office/powerpoint/2010/main" val="2763719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A5E9-E34F-F409-29F0-517C83CAC3C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582074-F0D4-D736-24A6-F732C8F4EE4C}"/>
              </a:ext>
            </a:extLst>
          </p:cNvPr>
          <p:cNvSpPr>
            <a:spLocks noGrp="1"/>
          </p:cNvSpPr>
          <p:nvPr>
            <p:ph type="body" sz="quarter" idx="17"/>
          </p:nvPr>
        </p:nvSpPr>
        <p:spPr>
          <a:xfrm>
            <a:off x="1050131" y="2354401"/>
            <a:ext cx="16575629" cy="6952316"/>
          </a:xfrm>
        </p:spPr>
        <p:txBody>
          <a:bodyPr/>
          <a:lstStyle/>
          <a:p>
            <a:r>
              <a:rPr lang="en-US" sz="2400" dirty="0"/>
              <a:t>Connecting everything to 1 experience</a:t>
            </a:r>
          </a:p>
        </p:txBody>
      </p:sp>
      <p:sp>
        <p:nvSpPr>
          <p:cNvPr id="3" name="Slide Number Placeholder 2">
            <a:extLst>
              <a:ext uri="{FF2B5EF4-FFF2-40B4-BE49-F238E27FC236}">
                <a16:creationId xmlns:a16="http://schemas.microsoft.com/office/drawing/2014/main" id="{A241115D-CDFA-8C4F-5A9F-5BEFE27F9475}"/>
              </a:ext>
            </a:extLst>
          </p:cNvPr>
          <p:cNvSpPr>
            <a:spLocks noGrp="1"/>
          </p:cNvSpPr>
          <p:nvPr>
            <p:ph type="sldNum" sz="quarter" idx="12"/>
          </p:nvPr>
        </p:nvSpPr>
        <p:spPr/>
        <p:txBody>
          <a:bodyPr/>
          <a:lstStyle/>
          <a:p>
            <a:fld id="{B7527A74-2D87-4307-9531-5A57D9647EEB}" type="slidenum">
              <a:rPr lang="nl-BE" smtClean="0"/>
              <a:pPr/>
              <a:t>12</a:t>
            </a:fld>
            <a:endParaRPr lang="nl-BE"/>
          </a:p>
        </p:txBody>
      </p:sp>
      <p:sp>
        <p:nvSpPr>
          <p:cNvPr id="4" name="Title 3">
            <a:extLst>
              <a:ext uri="{FF2B5EF4-FFF2-40B4-BE49-F238E27FC236}">
                <a16:creationId xmlns:a16="http://schemas.microsoft.com/office/drawing/2014/main" id="{4C694208-8030-BD4A-90B5-19E8546E92EC}"/>
              </a:ext>
            </a:extLst>
          </p:cNvPr>
          <p:cNvSpPr>
            <a:spLocks noGrp="1"/>
          </p:cNvSpPr>
          <p:nvPr>
            <p:ph type="title"/>
          </p:nvPr>
        </p:nvSpPr>
        <p:spPr/>
        <p:txBody>
          <a:bodyPr/>
          <a:lstStyle/>
          <a:p>
            <a:pPr algn="l">
              <a:spcBef>
                <a:spcPts val="900"/>
              </a:spcBef>
              <a:spcAft>
                <a:spcPts val="900"/>
              </a:spcAft>
            </a:pPr>
            <a:r>
              <a:rPr lang="nl-BE" dirty="0"/>
              <a:t>Technical solution Connectivity</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8143F563-4D1E-B098-05B1-26CCF069FC41}"/>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C428AB42-6F04-6407-AAE8-69498CD16EC9}"/>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pic>
        <p:nvPicPr>
          <p:cNvPr id="7" name="Picture 6" descr="A building with lights on&#10;&#10;Description automatically generated">
            <a:extLst>
              <a:ext uri="{FF2B5EF4-FFF2-40B4-BE49-F238E27FC236}">
                <a16:creationId xmlns:a16="http://schemas.microsoft.com/office/drawing/2014/main" id="{B2C523E5-851D-C783-FCFB-2EC863AB26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6688"/>
            <a:ext cx="18288000" cy="4020312"/>
          </a:xfrm>
          <a:prstGeom prst="rect">
            <a:avLst/>
          </a:prstGeom>
        </p:spPr>
      </p:pic>
    </p:spTree>
    <p:extLst>
      <p:ext uri="{BB962C8B-B14F-4D97-AF65-F5344CB8AC3E}">
        <p14:creationId xmlns:p14="http://schemas.microsoft.com/office/powerpoint/2010/main" val="2023299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41A32-9CF5-17D4-B1ED-7A4BE9ACAC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820B03-7C24-D27D-5AE3-8373FC32AAF1}"/>
              </a:ext>
            </a:extLst>
          </p:cNvPr>
          <p:cNvSpPr>
            <a:spLocks noGrp="1"/>
          </p:cNvSpPr>
          <p:nvPr>
            <p:ph type="body" sz="quarter" idx="17"/>
          </p:nvPr>
        </p:nvSpPr>
        <p:spPr>
          <a:xfrm>
            <a:off x="1050131" y="2354401"/>
            <a:ext cx="16575629" cy="6952316"/>
          </a:xfrm>
        </p:spPr>
        <p:txBody>
          <a:bodyPr/>
          <a:lstStyle/>
          <a:p>
            <a:pPr algn="l"/>
            <a:endParaRPr lang="en-BE" sz="1800" b="0" i="0" u="none" strike="noStrike" baseline="0" dirty="0">
              <a:solidFill>
                <a:srgbClr val="000000"/>
              </a:solidFill>
              <a:latin typeface="Calibri" panose="020F0502020204030204" pitchFamily="34" charset="0"/>
            </a:endParaRPr>
          </a:p>
          <a:p>
            <a:r>
              <a:rPr lang="en-GB" sz="1800" b="1" i="0" u="none" strike="noStrike" baseline="0" dirty="0">
                <a:solidFill>
                  <a:srgbClr val="6F2F9F"/>
                </a:solidFill>
                <a:latin typeface="Calibri" panose="020F0502020204030204" pitchFamily="34" charset="0"/>
              </a:rPr>
              <a:t>AI-Generated Environments</a:t>
            </a:r>
            <a:r>
              <a:rPr lang="en-GB" sz="1800" b="0" i="0" u="none" strike="noStrike" baseline="0" dirty="0">
                <a:solidFill>
                  <a:srgbClr val="6F2F9F"/>
                </a:solidFill>
                <a:latin typeface="Calibri" panose="020F0502020204030204" pitchFamily="34" charset="0"/>
              </a:rPr>
              <a:t>: The chosen locations will be brought to life with AI-generated 360-degree images and videos, offering immersive experiences such as nature (forests, snow-covered landscapes) or cities (Paris, Amsterdam, etc.). </a:t>
            </a:r>
          </a:p>
          <a:p>
            <a:endParaRPr lang="en-GB" sz="1800" b="0" i="0" u="none" strike="noStrike" baseline="0" dirty="0">
              <a:solidFill>
                <a:srgbClr val="6F2F9F"/>
              </a:solidFill>
              <a:latin typeface="Calibri" panose="020F0502020204030204" pitchFamily="34" charset="0"/>
            </a:endParaRPr>
          </a:p>
          <a:p>
            <a:pPr algn="l"/>
            <a:r>
              <a:rPr lang="en-GB" sz="1800" dirty="0">
                <a:solidFill>
                  <a:srgbClr val="FF0000"/>
                </a:solidFill>
                <a:latin typeface="Calibri" panose="020F0502020204030204" pitchFamily="34" charset="0"/>
              </a:rPr>
              <a:t>No real time music generation? </a:t>
            </a:r>
            <a:endParaRPr lang="en-BE" sz="1800" b="0" i="0" u="none" strike="noStrike" baseline="0" dirty="0">
              <a:solidFill>
                <a:srgbClr val="FF0000"/>
              </a:solidFill>
              <a:latin typeface="Calibri" panose="020F0502020204030204" pitchFamily="34" charset="0"/>
            </a:endParaRPr>
          </a:p>
          <a:p>
            <a:r>
              <a:rPr lang="en-GB" sz="1800" b="1" i="0" u="none" strike="noStrike" baseline="0" dirty="0">
                <a:solidFill>
                  <a:srgbClr val="FF0000"/>
                </a:solidFill>
                <a:latin typeface="Calibri" panose="020F0502020204030204" pitchFamily="34" charset="0"/>
              </a:rPr>
              <a:t>Music Generation</a:t>
            </a:r>
            <a:r>
              <a:rPr lang="en-GB" sz="1800" b="0" i="0" u="none" strike="noStrike" baseline="0" dirty="0">
                <a:solidFill>
                  <a:srgbClr val="FF0000"/>
                </a:solidFill>
                <a:latin typeface="Calibri" panose="020F0502020204030204" pitchFamily="34" charset="0"/>
              </a:rPr>
              <a:t>: Background music will be generated on beforehand and tailored to match the </a:t>
            </a:r>
            <a:r>
              <a:rPr lang="en-GB" sz="1800" b="0" i="0" u="none" strike="noStrike" baseline="0" dirty="0" err="1">
                <a:solidFill>
                  <a:srgbClr val="FF0000"/>
                </a:solidFill>
                <a:latin typeface="Calibri" panose="020F0502020204030204" pitchFamily="34" charset="0"/>
              </a:rPr>
              <a:t>locatio</a:t>
            </a:r>
            <a:endParaRPr lang="en-GB" sz="1800" b="0" i="0" u="none" strike="noStrike" baseline="0" dirty="0">
              <a:solidFill>
                <a:srgbClr val="FF0000"/>
              </a:solidFill>
              <a:latin typeface="Calibri" panose="020F0502020204030204" pitchFamily="34" charset="0"/>
            </a:endParaRPr>
          </a:p>
          <a:p>
            <a:r>
              <a:rPr lang="en-US" sz="2400" dirty="0"/>
              <a:t>Music? Copyrights? </a:t>
            </a:r>
          </a:p>
          <a:p>
            <a:pPr>
              <a:buFont typeface="Arial" panose="020B0604020202020204" pitchFamily="34" charset="0"/>
              <a:buChar char="•"/>
            </a:pPr>
            <a:r>
              <a:rPr lang="en-GB" sz="2400" b="0" i="0" dirty="0">
                <a:effectLst/>
              </a:rPr>
              <a:t>create a board and share it with the Scrum team &amp; coaches</a:t>
            </a:r>
          </a:p>
          <a:p>
            <a:pPr>
              <a:buFont typeface="Arial" panose="020B0604020202020204" pitchFamily="34" charset="0"/>
              <a:buChar char="•"/>
            </a:pPr>
            <a:r>
              <a:rPr lang="en-GB" sz="2400" b="0" i="0" dirty="0">
                <a:effectLst/>
              </a:rPr>
              <a:t>set up the product backlog</a:t>
            </a:r>
          </a:p>
          <a:p>
            <a:pPr>
              <a:buFont typeface="Arial" panose="020B0604020202020204" pitchFamily="34" charset="0"/>
              <a:buChar char="•"/>
            </a:pPr>
            <a:r>
              <a:rPr lang="en-GB" sz="2400" b="0" i="0" dirty="0">
                <a:effectLst/>
              </a:rPr>
              <a:t>define sprints</a:t>
            </a:r>
          </a:p>
          <a:p>
            <a:pPr>
              <a:buFont typeface="Arial" panose="020B0604020202020204" pitchFamily="34" charset="0"/>
              <a:buChar char="•"/>
            </a:pPr>
            <a:r>
              <a:rPr lang="en-GB" sz="2400" b="0" i="0" dirty="0">
                <a:effectLst/>
              </a:rPr>
              <a:t>add tasks and assign deadlines</a:t>
            </a:r>
          </a:p>
          <a:p>
            <a:endParaRPr lang="en-US" sz="2400" dirty="0"/>
          </a:p>
        </p:txBody>
      </p:sp>
      <p:sp>
        <p:nvSpPr>
          <p:cNvPr id="3" name="Slide Number Placeholder 2">
            <a:extLst>
              <a:ext uri="{FF2B5EF4-FFF2-40B4-BE49-F238E27FC236}">
                <a16:creationId xmlns:a16="http://schemas.microsoft.com/office/drawing/2014/main" id="{5064F9F6-204E-E0AD-E929-150E7CD568EE}"/>
              </a:ext>
            </a:extLst>
          </p:cNvPr>
          <p:cNvSpPr>
            <a:spLocks noGrp="1"/>
          </p:cNvSpPr>
          <p:nvPr>
            <p:ph type="sldNum" sz="quarter" idx="12"/>
          </p:nvPr>
        </p:nvSpPr>
        <p:spPr/>
        <p:txBody>
          <a:bodyPr/>
          <a:lstStyle/>
          <a:p>
            <a:fld id="{B7527A74-2D87-4307-9531-5A57D9647EEB}" type="slidenum">
              <a:rPr lang="nl-BE" smtClean="0"/>
              <a:pPr/>
              <a:t>13</a:t>
            </a:fld>
            <a:endParaRPr lang="nl-BE"/>
          </a:p>
        </p:txBody>
      </p:sp>
      <p:sp>
        <p:nvSpPr>
          <p:cNvPr id="4" name="Title 3">
            <a:extLst>
              <a:ext uri="{FF2B5EF4-FFF2-40B4-BE49-F238E27FC236}">
                <a16:creationId xmlns:a16="http://schemas.microsoft.com/office/drawing/2014/main" id="{C2BEA92C-9C1B-CF20-6154-C3DC5C5E48AD}"/>
              </a:ext>
            </a:extLst>
          </p:cNvPr>
          <p:cNvSpPr>
            <a:spLocks noGrp="1"/>
          </p:cNvSpPr>
          <p:nvPr>
            <p:ph type="title"/>
          </p:nvPr>
        </p:nvSpPr>
        <p:spPr/>
        <p:txBody>
          <a:bodyPr/>
          <a:lstStyle/>
          <a:p>
            <a:pPr algn="l">
              <a:spcBef>
                <a:spcPts val="900"/>
              </a:spcBef>
              <a:spcAft>
                <a:spcPts val="900"/>
              </a:spcAft>
            </a:pPr>
            <a:r>
              <a:rPr lang="nl-BE" dirty="0" err="1"/>
              <a:t>Trello</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C815F4BE-9F30-6FAD-D3D2-C4CDF43518A4}"/>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43EBAB1C-1A96-5F28-3384-FA1C0F91928E}"/>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1997751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AE811-1DDF-B8FA-0ADD-35787161518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4F62987-5B4D-84C4-83CD-A6D5BA695A70}"/>
              </a:ext>
            </a:extLst>
          </p:cNvPr>
          <p:cNvSpPr>
            <a:spLocks noGrp="1"/>
          </p:cNvSpPr>
          <p:nvPr>
            <p:ph type="body" sz="quarter" idx="17"/>
          </p:nvPr>
        </p:nvSpPr>
        <p:spPr>
          <a:xfrm>
            <a:off x="1050131" y="2354401"/>
            <a:ext cx="16575629" cy="6952316"/>
          </a:xfrm>
        </p:spPr>
        <p:txBody>
          <a:bodyPr/>
          <a:lstStyle/>
          <a:p>
            <a:pPr algn="l"/>
            <a:endParaRPr lang="en-BE" sz="1800" b="0" i="0" u="none" strike="noStrike" baseline="0" dirty="0">
              <a:solidFill>
                <a:srgbClr val="000000"/>
              </a:solidFill>
              <a:latin typeface="Calibri" panose="020F0502020204030204" pitchFamily="34" charset="0"/>
            </a:endParaRPr>
          </a:p>
          <a:p>
            <a:r>
              <a:rPr lang="en-GB" sz="1800" b="1" i="0" u="none" strike="noStrike" baseline="0" dirty="0">
                <a:solidFill>
                  <a:srgbClr val="6F2F9F"/>
                </a:solidFill>
                <a:latin typeface="Calibri" panose="020F0502020204030204" pitchFamily="34" charset="0"/>
              </a:rPr>
              <a:t>AI-Generated Environments</a:t>
            </a:r>
            <a:r>
              <a:rPr lang="en-GB" sz="1800" b="0" i="0" u="none" strike="noStrike" baseline="0" dirty="0">
                <a:solidFill>
                  <a:srgbClr val="6F2F9F"/>
                </a:solidFill>
                <a:latin typeface="Calibri" panose="020F0502020204030204" pitchFamily="34" charset="0"/>
              </a:rPr>
              <a:t>: The chosen locations will be brought to life with AI-generated 360-degree images and videos, offering immersive experiences such as nature (forests, snow-covered landscapes) or cities (Paris, Amsterdam, etc.). </a:t>
            </a:r>
          </a:p>
          <a:p>
            <a:endParaRPr lang="en-GB" sz="1800" b="0" i="0" u="none" strike="noStrike" baseline="0" dirty="0">
              <a:solidFill>
                <a:srgbClr val="6F2F9F"/>
              </a:solidFill>
              <a:latin typeface="Calibri" panose="020F0502020204030204" pitchFamily="34" charset="0"/>
            </a:endParaRPr>
          </a:p>
          <a:p>
            <a:pPr algn="l"/>
            <a:r>
              <a:rPr lang="en-GB" sz="1800" dirty="0">
                <a:solidFill>
                  <a:srgbClr val="FF0000"/>
                </a:solidFill>
                <a:latin typeface="Calibri" panose="020F0502020204030204" pitchFamily="34" charset="0"/>
              </a:rPr>
              <a:t>No real time music generation? </a:t>
            </a:r>
            <a:endParaRPr lang="en-BE" sz="1800" b="0" i="0" u="none" strike="noStrike" baseline="0" dirty="0">
              <a:solidFill>
                <a:srgbClr val="FF0000"/>
              </a:solidFill>
              <a:latin typeface="Calibri" panose="020F0502020204030204" pitchFamily="34" charset="0"/>
            </a:endParaRPr>
          </a:p>
          <a:p>
            <a:r>
              <a:rPr lang="en-GB" sz="1800" b="1" i="0" u="none" strike="noStrike" baseline="0" dirty="0">
                <a:solidFill>
                  <a:srgbClr val="FF0000"/>
                </a:solidFill>
                <a:latin typeface="Calibri" panose="020F0502020204030204" pitchFamily="34" charset="0"/>
              </a:rPr>
              <a:t>Real-time Music Generation</a:t>
            </a:r>
            <a:r>
              <a:rPr lang="en-GB" sz="1800" b="0" i="0" u="none" strike="noStrike" baseline="0" dirty="0">
                <a:solidFill>
                  <a:srgbClr val="FF0000"/>
                </a:solidFill>
                <a:latin typeface="Calibri" panose="020F0502020204030204" pitchFamily="34" charset="0"/>
              </a:rPr>
              <a:t>: Background music will be generated in real-time and tailored to match the location and the interactions of the child, adding to the immersive atmosphere. </a:t>
            </a:r>
          </a:p>
          <a:p>
            <a:endParaRPr lang="en-GB" sz="1800" b="0" i="0" u="none" strike="noStrike" baseline="0" dirty="0">
              <a:solidFill>
                <a:srgbClr val="FF0000"/>
              </a:solidFill>
              <a:latin typeface="Calibri" panose="020F0502020204030204" pitchFamily="34" charset="0"/>
            </a:endParaRPr>
          </a:p>
          <a:p>
            <a:r>
              <a:rPr lang="en-US" sz="2400" dirty="0"/>
              <a:t>Music? Copyrights? </a:t>
            </a:r>
          </a:p>
          <a:p>
            <a:pPr>
              <a:buFont typeface="Arial" panose="020B0604020202020204" pitchFamily="34" charset="0"/>
              <a:buChar char="•"/>
            </a:pPr>
            <a:r>
              <a:rPr lang="en-GB" sz="2400" b="0" i="0" dirty="0">
                <a:effectLst/>
              </a:rPr>
              <a:t>create a board and share it with the Scrum team &amp; coaches</a:t>
            </a:r>
          </a:p>
          <a:p>
            <a:pPr>
              <a:buFont typeface="Arial" panose="020B0604020202020204" pitchFamily="34" charset="0"/>
              <a:buChar char="•"/>
            </a:pPr>
            <a:r>
              <a:rPr lang="en-GB" sz="2400" b="0" i="0" dirty="0">
                <a:effectLst/>
              </a:rPr>
              <a:t>set up the product backlog</a:t>
            </a:r>
          </a:p>
          <a:p>
            <a:pPr>
              <a:buFont typeface="Arial" panose="020B0604020202020204" pitchFamily="34" charset="0"/>
              <a:buChar char="•"/>
            </a:pPr>
            <a:r>
              <a:rPr lang="en-GB" sz="2400" b="0" i="0" dirty="0">
                <a:effectLst/>
              </a:rPr>
              <a:t>define sprints</a:t>
            </a:r>
          </a:p>
          <a:p>
            <a:pPr>
              <a:buFont typeface="Arial" panose="020B0604020202020204" pitchFamily="34" charset="0"/>
              <a:buChar char="•"/>
            </a:pPr>
            <a:r>
              <a:rPr lang="en-GB" sz="2400" b="0" i="0" dirty="0">
                <a:effectLst/>
              </a:rPr>
              <a:t>add tasks and assign deadlines</a:t>
            </a:r>
          </a:p>
          <a:p>
            <a:endParaRPr lang="en-US" sz="2400" dirty="0"/>
          </a:p>
        </p:txBody>
      </p:sp>
      <p:sp>
        <p:nvSpPr>
          <p:cNvPr id="3" name="Slide Number Placeholder 2">
            <a:extLst>
              <a:ext uri="{FF2B5EF4-FFF2-40B4-BE49-F238E27FC236}">
                <a16:creationId xmlns:a16="http://schemas.microsoft.com/office/drawing/2014/main" id="{224893F1-68D6-0A38-D8F5-A7FD8AF314F4}"/>
              </a:ext>
            </a:extLst>
          </p:cNvPr>
          <p:cNvSpPr>
            <a:spLocks noGrp="1"/>
          </p:cNvSpPr>
          <p:nvPr>
            <p:ph type="sldNum" sz="quarter" idx="12"/>
          </p:nvPr>
        </p:nvSpPr>
        <p:spPr/>
        <p:txBody>
          <a:bodyPr/>
          <a:lstStyle/>
          <a:p>
            <a:fld id="{B7527A74-2D87-4307-9531-5A57D9647EEB}" type="slidenum">
              <a:rPr lang="nl-BE" smtClean="0"/>
              <a:pPr/>
              <a:t>14</a:t>
            </a:fld>
            <a:endParaRPr lang="nl-BE"/>
          </a:p>
        </p:txBody>
      </p:sp>
      <p:sp>
        <p:nvSpPr>
          <p:cNvPr id="4" name="Title 3">
            <a:extLst>
              <a:ext uri="{FF2B5EF4-FFF2-40B4-BE49-F238E27FC236}">
                <a16:creationId xmlns:a16="http://schemas.microsoft.com/office/drawing/2014/main" id="{7FCBB985-1A32-18E0-C9B5-75C5C1DB05D0}"/>
              </a:ext>
            </a:extLst>
          </p:cNvPr>
          <p:cNvSpPr>
            <a:spLocks noGrp="1"/>
          </p:cNvSpPr>
          <p:nvPr>
            <p:ph type="title"/>
          </p:nvPr>
        </p:nvSpPr>
        <p:spPr/>
        <p:txBody>
          <a:bodyPr/>
          <a:lstStyle/>
          <a:p>
            <a:pPr algn="l">
              <a:spcBef>
                <a:spcPts val="900"/>
              </a:spcBef>
              <a:spcAft>
                <a:spcPts val="900"/>
              </a:spcAft>
            </a:pPr>
            <a:r>
              <a:rPr lang="nl-BE" dirty="0" err="1"/>
              <a:t>Trello</a:t>
            </a:r>
            <a:endParaRPr lang="en-GB" b="0" i="0" dirty="0">
              <a:solidFill>
                <a:srgbClr val="2D3B45"/>
              </a:solidFill>
              <a:effectLst/>
              <a:latin typeface="Lato Extended"/>
            </a:endParaRPr>
          </a:p>
        </p:txBody>
      </p:sp>
      <p:sp>
        <p:nvSpPr>
          <p:cNvPr id="5" name="Date Placeholder 4">
            <a:extLst>
              <a:ext uri="{FF2B5EF4-FFF2-40B4-BE49-F238E27FC236}">
                <a16:creationId xmlns:a16="http://schemas.microsoft.com/office/drawing/2014/main" id="{A6103DC5-37F5-924B-70A4-C86084765C0B}"/>
              </a:ext>
            </a:extLst>
          </p:cNvPr>
          <p:cNvSpPr>
            <a:spLocks noGrp="1"/>
          </p:cNvSpPr>
          <p:nvPr>
            <p:ph type="dt" sz="half" idx="10"/>
          </p:nvPr>
        </p:nvSpPr>
        <p:spPr/>
        <p:txBody>
          <a:bodyPr/>
          <a:lstStyle/>
          <a:p>
            <a:fld id="{EEB9FFE0-59FF-4E33-9CF1-FBB947891542}" type="datetime1">
              <a:rPr lang="en-US" smtClean="0"/>
              <a:t>11/7/2024</a:t>
            </a:fld>
            <a:endParaRPr lang="nl-BE" dirty="0"/>
          </a:p>
        </p:txBody>
      </p:sp>
      <p:sp>
        <p:nvSpPr>
          <p:cNvPr id="6" name="Footer Placeholder 5">
            <a:extLst>
              <a:ext uri="{FF2B5EF4-FFF2-40B4-BE49-F238E27FC236}">
                <a16:creationId xmlns:a16="http://schemas.microsoft.com/office/drawing/2014/main" id="{5C02C0B7-1863-CC5C-8D64-F31F5723438B}"/>
              </a:ext>
            </a:extLst>
          </p:cNvPr>
          <p:cNvSpPr>
            <a:spLocks noGrp="1"/>
          </p:cNvSpPr>
          <p:nvPr>
            <p:ph type="ftr" sz="quarter" idx="11"/>
          </p:nvPr>
        </p:nvSpPr>
        <p:spPr/>
        <p:txBody>
          <a:bodyPr/>
          <a:lstStyle/>
          <a:p>
            <a:r>
              <a:rPr lang="en-US" dirty="0"/>
              <a:t>Virtual </a:t>
            </a:r>
            <a:r>
              <a:rPr lang="en-US" dirty="0" err="1"/>
              <a:t>GlobeTrotter</a:t>
            </a:r>
            <a:r>
              <a:rPr lang="en-US" dirty="0"/>
              <a:t> Team Project 2CTAI</a:t>
            </a:r>
            <a:endParaRPr lang="nl-BE" dirty="0"/>
          </a:p>
        </p:txBody>
      </p:sp>
    </p:spTree>
    <p:extLst>
      <p:ext uri="{BB962C8B-B14F-4D97-AF65-F5344CB8AC3E}">
        <p14:creationId xmlns:p14="http://schemas.microsoft.com/office/powerpoint/2010/main" val="539234282"/>
      </p:ext>
    </p:extLst>
  </p:cSld>
  <p:clrMapOvr>
    <a:masterClrMapping/>
  </p:clrMapOvr>
</p:sld>
</file>

<file path=ppt/theme/theme1.xml><?xml version="1.0" encoding="utf-8"?>
<a:theme xmlns:a="http://schemas.openxmlformats.org/drawingml/2006/main" name="Howest NL">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west EN">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Howest NL met tweede logo">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D0185FF4C350E4FBC1D9C6755033037" ma:contentTypeVersion="5" ma:contentTypeDescription="Een nieuw document maken." ma:contentTypeScope="" ma:versionID="54834040f847a9128d07fee6bb87a34f">
  <xsd:schema xmlns:xsd="http://www.w3.org/2001/XMLSchema" xmlns:xs="http://www.w3.org/2001/XMLSchema" xmlns:p="http://schemas.microsoft.com/office/2006/metadata/properties" xmlns:ns2="d374f1f6-a7bc-4ce3-8ce4-dbead62070db" targetNamespace="http://schemas.microsoft.com/office/2006/metadata/properties" ma:root="true" ma:fieldsID="a64fb42c7f0498b8b863d5f220b52cfe" ns2:_="">
    <xsd:import namespace="d374f1f6-a7bc-4ce3-8ce4-dbead62070d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74f1f6-a7bc-4ce3-8ce4-dbead62070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9D7BF5-FA67-45FF-A287-CE11E2521B25}">
  <ds:schemaRefs>
    <ds:schemaRef ds:uri="http://schemas.microsoft.com/office/2006/documentManagement/types"/>
    <ds:schemaRef ds:uri="http://purl.org/dc/dcmitype/"/>
    <ds:schemaRef ds:uri="d374f1f6-a7bc-4ce3-8ce4-dbead62070db"/>
    <ds:schemaRef ds:uri="http://www.w3.org/XML/1998/namespace"/>
    <ds:schemaRef ds:uri="http://purl.org/dc/terms/"/>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0B948370-5113-4053-81DD-76230B49C2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74f1f6-a7bc-4ce3-8ce4-dbead62070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7E805CF-5123-4B02-8348-B20123482E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11139</TotalTime>
  <Words>857</Words>
  <Application>Microsoft Office PowerPoint</Application>
  <PresentationFormat>Custom</PresentationFormat>
  <Paragraphs>142</Paragraphs>
  <Slides>14</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14</vt:i4>
      </vt:variant>
    </vt:vector>
  </HeadingPairs>
  <TitlesOfParts>
    <vt:vector size="22" baseType="lpstr">
      <vt:lpstr>Arial</vt:lpstr>
      <vt:lpstr>Arial Rounded MT Bold</vt:lpstr>
      <vt:lpstr>Calibri</vt:lpstr>
      <vt:lpstr>Calibri Light</vt:lpstr>
      <vt:lpstr>Lato Extended</vt:lpstr>
      <vt:lpstr>Howest NL</vt:lpstr>
      <vt:lpstr>Howest EN</vt:lpstr>
      <vt:lpstr>Howest NL met tweede logo</vt:lpstr>
      <vt:lpstr>  Virtual GlobeTrotter : Travel and see nice spots  * even when you have to stay home </vt:lpstr>
      <vt:lpstr>Table of content</vt:lpstr>
      <vt:lpstr>Team Role Distribution</vt:lpstr>
      <vt:lpstr>Project Description</vt:lpstr>
      <vt:lpstr>Story points</vt:lpstr>
      <vt:lpstr>Technical solution  Diagram</vt:lpstr>
      <vt:lpstr>Technical solution UI </vt:lpstr>
      <vt:lpstr>Technical solution Website</vt:lpstr>
      <vt:lpstr>Technical solution Database</vt:lpstr>
      <vt:lpstr>Technical solution AI</vt:lpstr>
      <vt:lpstr>Technical solution Unity</vt:lpstr>
      <vt:lpstr>Technical solution Connectivity</vt:lpstr>
      <vt:lpstr>Trello</vt:lpstr>
      <vt:lpstr>Trello</vt:lpstr>
    </vt:vector>
  </TitlesOfParts>
  <Company>Howest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regis.le.roy@howest.be</dc:creator>
  <cp:lastModifiedBy>Isabelle Desle</cp:lastModifiedBy>
  <cp:revision>189</cp:revision>
  <dcterms:created xsi:type="dcterms:W3CDTF">2019-05-02T19:50:51Z</dcterms:created>
  <dcterms:modified xsi:type="dcterms:W3CDTF">2024-11-07T09:45:38Z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0x010100AD0185FF4C350E4FBC1D9C6755033037</vt:lpwstr>
  </property>
</Properties>
</file>